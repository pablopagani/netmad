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7"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86"/>
    <p:restoredTop sz="81455"/>
  </p:normalViewPr>
  <p:slideViewPr>
    <p:cSldViewPr snapToGrid="0" snapToObjects="1">
      <p:cViewPr varScale="1">
        <p:scale>
          <a:sx n="130" d="100"/>
          <a:sy n="130" d="100"/>
        </p:scale>
        <p:origin x="10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269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B8C60-4141-7668-814B-5B0EC5DF7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D1F3A-E8D1-8AC9-031F-05AB80FAE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7FD5C-38D8-062F-304F-F769214AF832}"/>
              </a:ext>
            </a:extLst>
          </p:cNvPr>
          <p:cNvSpPr>
            <a:spLocks noGrp="1"/>
          </p:cNvSpPr>
          <p:nvPr>
            <p:ph type="body" idx="1"/>
          </p:nvPr>
        </p:nvSpPr>
        <p:spPr/>
        <p:txBody>
          <a:bodyPr/>
          <a:lstStyle/>
          <a:p>
            <a:r>
              <a:rPr lang="en-US" dirty="0"/>
              <a:t>OPENING — keep this to 20-30 seconds, don't read the slide.
Introduce yourself and the one-line pitch: "I want to start NetMAD, a free, recurring meetup for network automation engineers here in Madrid."
Name-drop NetBCN (Barcelona) and the Network Automation Forum (NAF/AutoCon) right away — they're the credibility anchor for the whole deck, so plant them early.
Tee up the structure: "I'll walk through why now, how NetBCN and NAF did it, and exactly what I need from you to get this off the ground."</a:t>
            </a:r>
          </a:p>
        </p:txBody>
      </p:sp>
      <p:sp>
        <p:nvSpPr>
          <p:cNvPr id="4" name="Slide Number Placeholder 3">
            <a:extLst>
              <a:ext uri="{FF2B5EF4-FFF2-40B4-BE49-F238E27FC236}">
                <a16:creationId xmlns:a16="http://schemas.microsoft.com/office/drawing/2014/main" id="{582BE22C-180A-51D8-02FC-C20FD1EC9877}"/>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185703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personal if you can — mention a time you looked for a local automation meetup and couldn't find one, or had to travel to Barcelona/online for NetBCN content.
The four stats are meant to be said out loud, not just read: zero dedicated meetups, 2nd largest tech hub in Spain, 50%+ of enterprises already automating (Gartner), thousands of engineers in telco/banking/cloud.
Land on 'the gap' box as the emotional core of the slide: Barcelona and the global community already have a home — Madrid engineers currently have to travel, watch recordings, or go without.
If asked for a source on the Gartner stat, note it's a widely-cited industry figure — offer to send the reference afterward rather than getting sidetracked.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'why should this exist' before you get into logistics — don't skip past it to get to the roadmap.
Vision vs mission: vision is the big long-term picture (Madrid as a reference hub in Southern Europe); mission is what you'll actually do every quarter (run free, practitioner-led meetups).
The four pillars are your answer to the two objections you'll get most often: 'won't this just be vendor sales pitches?' (vendor-neutral) and 'why would anyone bother coming?' (practitioner-led, open &amp; free).
The last pillar — locally rooted, globally connected — is where you can mention any early conversations you've already had with NetBCN organizers or NAF, if you have them. If you don't yet, frame it as the first thing you'll do after this meeting.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'we're not guessing' slide — use it to convert skeptics who think this is a vague idea rather than a proven playbook. Three models now, from local to national to global.
NetBCN talking point: it started small (Discord + meetup) and grew into Catalonia's reference community, run on rotating free venues — exactly the low-cost model you're proposing for Madrid.
ESNOG talking point: this is the one to lean on if the room is more traditional/telco — it's Spain's own network operators group, running biannually since the 2000s (35+ editions), free and open, registered as a non-profit. It proves a grassroots Spanish networking community can sustain itself for decades on light sponsorship alone. Note it's broader than automation (ISPs, peering, DNS, infrastructure generally) — NetMAD is the automation-focused layer on top of that same spirit, not a competitor to it.
NAF/AutoCon talking point: two practitioners (Chris Grundemann &amp; Scott Robohn) just decided to 'do it' — no big budget, no permission needed, started with one event in Denver in 2023. Great line to quote: they didn't need to ask permission, they just did it.
Emphasize 'vendor-neutral by design' across all three — sponsors fund the room, engineers own the agenda. This directly sets up the funding slide later, so plant the seed here.
If you know anyone from NetBCN or ESNOG personally, mention it — it strengthens 'we can plug into an existing Spanish network, not build from zero.'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concrete 'what will actually happen' slide — good place to slow down if the audience is more operational/skeptical than visionary.
Cadence: quarterly keeps it sustainable for volunteer organizers — stress that this is intentionally low-frequency at first so it doesn't burn out the core team; you can always add lightning-talk nights later.
Format: walk through the runtime briefly (30 min networking, two 25-min talks, lightning talks/panel, drinks) — this is almost identical to NetBCN's format, so you can say that explicitly.
Venue: this is the key cost-avoidance point — companies donate space, so there's no venue budget needed in year one. Good moment to ask the room directly: 'if your company has a space that fits 40-60 people, that alone would let us launch.'
If someone asks about content quality control, point to 'Content' and 'Vendor-neutral' from the previous slide — talks are chosen for technical merit.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'here's exactly what needs to happen' slide — the point where you convert interest into commitment, so slow down here.
Step 1 (core team) is the real ask of this meeting: you need 3-5 co-organizers, and the roles are already split out (content, sponsors, logistics, comms) so it's easy for someone to say yes to a specific role rather than an open-ended commitment.
Step 2 (identity) is quick and mostly on you — name, logo, brand kit, Discord, LinkedIn, simple site. Mention this can happen in parallel with step 1, doesn't block anything.
Step 3 &amp; 4 (first event) — stress 'small and simple beats perfect' and 'set the date for #2 immediately' — these are the two lines that show you understand community-building isn't about a perfect launch, it's about momentum.
Good moment to pause and directly ask: 'who in this room wants to be one of those 3-5 co-organizers?'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usually the slide with the most questions — leave extra time and don't rush past the tiers.
No membership fees, ever — that's a deliberate choice, mirroring NetBCN and NAF: free-to-attend is core to the value proposition, so funding has to come from sponsors and in-kind support, not attendees.
In-kind tier is the easiest first ask (venue, catering, printing) — if you're pitching to a potential host company right now, this is the tier to close today.
Community sponsor (€300-800/event) and Founding sponsor (€2,000-5,000/year) are the cash tiers — the founding tier is really about getting 2-3 anchor companies who want visibility in the automation space long-term.
Always close this slide with the line at the bottom: sponsors fund the room, they never buy the agenda. This is the single most important trust signal in the whole pitch — say it clearly, don't just point at the 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six rows top to bottom — pick the 2-3 most relevant to whoever's in the room and expand on those; treat the rest as reference.
LinkedIn and Discord are the backbone — LinkedIn for reach and legitimacy, Discord for the actual day-to-day community feel (this mirrors NAF's Slack workspace almost exactly).
'Company champions' is the most underrated row and worth emphasizing: personal invites from someone's own colleagues outperform any social post — ask hosts to personally invite their own engineers, not just post the event link.
Podcasts &amp; partner NOGs is your low-cost distribution hack — cross-promotion with NetBCN, RedIRIS, ESNOG, and NAF gets you in front of an already-engaged audience for free.
Press &amp; local tech media comes last on purpose — you need a first event to point to before local outlets will care, so don't over-invest here early.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make the plan feel achievable and immediate — the whole pitch compresses down to 'give us 90 days.'
Walk left to right quickly: form the team, stand up channels, secure venue + speakers, open registration, run the event, then recap and plan #2 — six concrete checkpoints, nothing abstract.
Emphasize that weeks 1-4 (team + channels) and weeks 5-8 (venue + speakers + sponsors) can overlap — this isn't a strictly serial 13-week slog, it's parallel workstreams.
Close on the goal callout at the bottom: one completed event, 100+ member Discord, and a confirmed date for #2 — that's the definition of 'day 90 success,' and it's deliberately modest so it feels reachable, not intimidating.
If someone asks 'what if we can't find a venue by week 6' — be honest that timeline can flex, the sequence matters more than the exact dates.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show you're thinking about sustainability, not just a single flashy launch event — good slide for anyone in the room evaluating whether this is a one-off or a real commitment.
6 events run / 300+ Discord members / 3+ founding sponsors / 40% repeat attendance — these are deliberately modest, achievable numbers for year one, not vanity metrics. If pressed, say these are directionally based on NetBCN's early trajectory.
'Repeat attendance' is the metric that matters most to you as an organizer — explain briefly that it's the real signal of whether people are getting value, versus just showing up once for free drinks.
End on the italic line: the long-term ambition is a regional AutoCon-style day and a direct pipeline into NAF's global program — this is your 'big vision' payoff before the closing slide, so deliver it with some energy.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specific, concrete ask — not a vague 'let me know if you're interested.'
Repeat the single next step out loud: 3-5 co-organizers, a name, and a confirmed date for event #1 within 8 weeks. Ask directly who in the room wants to raise their hand for a role right now, while everyone's still in the seat.
If someone offers a venue or wants to sponsor on the spot, capture their name/contact immediately — don't let momentum die after the meeting.
Leave the contact details up as you take questions — treat this as the 'parking' slide for the rest of the discussion, not just a sign-off.
Optional strong closing line: 'NetBCN and NAF didn't wait for permission — they just did it. This is Madrid's version of that moment.'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72E31"/>
        </a:solidFill>
        <a:effectLst/>
      </p:bgPr>
    </p:bg>
    <p:spTree>
      <p:nvGrpSpPr>
        <p:cNvPr id="1" name="">
          <a:extLst>
            <a:ext uri="{FF2B5EF4-FFF2-40B4-BE49-F238E27FC236}">
              <a16:creationId xmlns:a16="http://schemas.microsoft.com/office/drawing/2014/main" id="{F5E227E0-661F-E183-A48F-0F555A611986}"/>
            </a:ext>
          </a:extLst>
        </p:cNvPr>
        <p:cNvGrpSpPr/>
        <p:nvPr/>
      </p:nvGrpSpPr>
      <p:grpSpPr>
        <a:xfrm>
          <a:off x="0" y="0"/>
          <a:ext cx="0" cy="0"/>
          <a:chOff x="0" y="0"/>
          <a:chExt cx="0" cy="0"/>
        </a:xfrm>
      </p:grpSpPr>
      <p:sp>
        <p:nvSpPr>
          <p:cNvPr id="46" name="Text 44">
            <a:extLst>
              <a:ext uri="{FF2B5EF4-FFF2-40B4-BE49-F238E27FC236}">
                <a16:creationId xmlns:a16="http://schemas.microsoft.com/office/drawing/2014/main" id="{6FB875D3-E687-C551-C471-A7672F19C187}"/>
              </a:ext>
            </a:extLst>
          </p:cNvPr>
          <p:cNvSpPr/>
          <p:nvPr/>
        </p:nvSpPr>
        <p:spPr>
          <a:xfrm>
            <a:off x="822960" y="1874520"/>
            <a:ext cx="9144000" cy="365760"/>
          </a:xfrm>
          <a:prstGeom prst="rect">
            <a:avLst/>
          </a:prstGeom>
          <a:noFill/>
          <a:ln/>
        </p:spPr>
        <p:txBody>
          <a:bodyPr wrap="square" rtlCol="0" anchor="ctr"/>
          <a:lstStyle/>
          <a:p>
            <a:pPr marL="0" indent="0">
              <a:buNone/>
            </a:pPr>
            <a:r>
              <a:rPr lang="en-US" sz="1400" b="1" kern="0" spc="300" dirty="0">
                <a:solidFill>
                  <a:srgbClr val="F0A868"/>
                </a:solidFill>
                <a:latin typeface="Calibri" pitchFamily="34" charset="0"/>
                <a:ea typeface="Calibri" pitchFamily="34" charset="-122"/>
                <a:cs typeface="Calibri" pitchFamily="34" charset="-120"/>
              </a:rPr>
              <a:t>MADRID · NETWORK AUTOMATION</a:t>
            </a:r>
            <a:endParaRPr lang="en-US" sz="1400" dirty="0"/>
          </a:p>
        </p:txBody>
      </p:sp>
      <p:sp>
        <p:nvSpPr>
          <p:cNvPr id="47" name="Text 45">
            <a:extLst>
              <a:ext uri="{FF2B5EF4-FFF2-40B4-BE49-F238E27FC236}">
                <a16:creationId xmlns:a16="http://schemas.microsoft.com/office/drawing/2014/main" id="{E6F13604-EE4E-03F5-0F24-F9C440389B1A}"/>
              </a:ext>
            </a:extLst>
          </p:cNvPr>
          <p:cNvSpPr txBox="1"/>
          <p:nvPr/>
        </p:nvSpPr>
        <p:spPr>
          <a:xfrm>
            <a:off x="777240" y="2194560"/>
            <a:ext cx="9144000" cy="137160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NetMAD</a:t>
            </a:r>
            <a:endParaRPr lang="en-US" sz="6600" dirty="0"/>
          </a:p>
        </p:txBody>
      </p:sp>
      <p:sp>
        <p:nvSpPr>
          <p:cNvPr id="48" name="Text 46">
            <a:extLst>
              <a:ext uri="{FF2B5EF4-FFF2-40B4-BE49-F238E27FC236}">
                <a16:creationId xmlns:a16="http://schemas.microsoft.com/office/drawing/2014/main" id="{58AE6A2D-8800-396C-E647-855648224352}"/>
              </a:ext>
            </a:extLst>
          </p:cNvPr>
          <p:cNvSpPr/>
          <p:nvPr/>
        </p:nvSpPr>
        <p:spPr>
          <a:xfrm>
            <a:off x="822960" y="3520440"/>
            <a:ext cx="8412480" cy="548640"/>
          </a:xfrm>
          <a:prstGeom prst="rect">
            <a:avLst/>
          </a:prstGeom>
          <a:noFill/>
          <a:ln/>
        </p:spPr>
        <p:txBody>
          <a:bodyPr wrap="square" rtlCol="0" anchor="ctr"/>
          <a:lstStyle/>
          <a:p>
            <a:pPr marL="0" indent="0">
              <a:buNone/>
            </a:pPr>
            <a:r>
              <a:rPr lang="en-US" sz="1800" i="1" dirty="0">
                <a:solidFill>
                  <a:srgbClr val="C7D0D3"/>
                </a:solidFill>
                <a:latin typeface="Calibri" pitchFamily="34" charset="0"/>
                <a:ea typeface="Calibri" pitchFamily="34" charset="-122"/>
                <a:cs typeface="Calibri" pitchFamily="34" charset="-120"/>
              </a:rPr>
              <a:t>Building Madrid's community for network automation practitioners</a:t>
            </a:r>
            <a:endParaRPr lang="en-US" sz="1800" dirty="0"/>
          </a:p>
        </p:txBody>
      </p:sp>
      <p:sp>
        <p:nvSpPr>
          <p:cNvPr id="49" name="Shape 47">
            <a:extLst>
              <a:ext uri="{FF2B5EF4-FFF2-40B4-BE49-F238E27FC236}">
                <a16:creationId xmlns:a16="http://schemas.microsoft.com/office/drawing/2014/main" id="{67CDD257-EC28-77B1-7C0F-3D9479C57191}"/>
              </a:ext>
            </a:extLst>
          </p:cNvPr>
          <p:cNvSpPr/>
          <p:nvPr/>
        </p:nvSpPr>
        <p:spPr>
          <a:xfrm>
            <a:off x="822960" y="4160519"/>
            <a:ext cx="6363148" cy="2689"/>
          </a:xfrm>
          <a:prstGeom prst="line">
            <a:avLst/>
          </a:prstGeom>
          <a:noFill/>
          <a:ln w="31750">
            <a:solidFill>
              <a:srgbClr val="D9600B"/>
            </a:solidFill>
            <a:prstDash val="solid"/>
          </a:ln>
        </p:spPr>
        <p:txBody>
          <a:bodyPr/>
          <a:lstStyle/>
          <a:p>
            <a:endParaRPr lang="en-US"/>
          </a:p>
        </p:txBody>
      </p:sp>
      <p:sp>
        <p:nvSpPr>
          <p:cNvPr id="50" name="Text 48">
            <a:extLst>
              <a:ext uri="{FF2B5EF4-FFF2-40B4-BE49-F238E27FC236}">
                <a16:creationId xmlns:a16="http://schemas.microsoft.com/office/drawing/2014/main" id="{F8AE40A1-64A6-CA55-CE5D-4B7438F4E73C}"/>
              </a:ext>
            </a:extLst>
          </p:cNvPr>
          <p:cNvSpPr/>
          <p:nvPr/>
        </p:nvSpPr>
        <p:spPr>
          <a:xfrm>
            <a:off x="822960" y="4343400"/>
            <a:ext cx="7772400" cy="357692"/>
          </a:xfrm>
          <a:prstGeom prst="rect">
            <a:avLst/>
          </a:prstGeom>
          <a:noFill/>
          <a:ln/>
        </p:spPr>
        <p:txBody>
          <a:bodyPr wrap="square" rtlCol="0" anchor="ctr"/>
          <a:lstStyle/>
          <a:p>
            <a:pPr marL="0" indent="0">
              <a:lnSpc>
                <a:spcPts val="1800"/>
              </a:lnSpc>
              <a:buNone/>
            </a:pPr>
            <a:r>
              <a:rPr lang="en-US" sz="1300" dirty="0">
                <a:solidFill>
                  <a:srgbClr val="B7C0C3"/>
                </a:solidFill>
                <a:latin typeface="Calibri" pitchFamily="34" charset="0"/>
                <a:ea typeface="Calibri" pitchFamily="34" charset="-122"/>
                <a:cs typeface="Calibri" pitchFamily="34" charset="-120"/>
              </a:rPr>
              <a:t>A launch plan: community design, funding, and outreach</a:t>
            </a:r>
            <a:endParaRPr lang="en-US" sz="1300" dirty="0"/>
          </a:p>
        </p:txBody>
      </p:sp>
      <p:sp>
        <p:nvSpPr>
          <p:cNvPr id="51" name="Text 49">
            <a:extLst>
              <a:ext uri="{FF2B5EF4-FFF2-40B4-BE49-F238E27FC236}">
                <a16:creationId xmlns:a16="http://schemas.microsoft.com/office/drawing/2014/main" id="{2A857B2C-D082-2F32-9EB7-DB8255E26447}"/>
              </a:ext>
            </a:extLst>
          </p:cNvPr>
          <p:cNvSpPr/>
          <p:nvPr/>
        </p:nvSpPr>
        <p:spPr>
          <a:xfrm>
            <a:off x="822960" y="6172200"/>
            <a:ext cx="5486400" cy="320040"/>
          </a:xfrm>
          <a:prstGeom prst="rect">
            <a:avLst/>
          </a:prstGeom>
          <a:noFill/>
          <a:ln/>
        </p:spPr>
        <p:txBody>
          <a:bodyPr wrap="square" rtlCol="0" anchor="ctr"/>
          <a:lstStyle/>
          <a:p>
            <a:pPr marL="0" indent="0">
              <a:buNone/>
            </a:pPr>
            <a:r>
              <a:rPr lang="en-US" sz="1100" b="1" kern="0" spc="200" dirty="0">
                <a:solidFill>
                  <a:srgbClr val="D9600B"/>
                </a:solidFill>
                <a:latin typeface="Calibri" pitchFamily="34" charset="0"/>
                <a:ea typeface="Calibri" pitchFamily="34" charset="-122"/>
                <a:cs typeface="Calibri" pitchFamily="34" charset="-120"/>
              </a:rPr>
              <a:t>PROPOSAL  ·  2026</a:t>
            </a:r>
            <a:endParaRPr lang="en-US" sz="1100" dirty="0"/>
          </a:p>
        </p:txBody>
      </p:sp>
      <p:pic>
        <p:nvPicPr>
          <p:cNvPr id="57" name="Picture 56">
            <a:extLst>
              <a:ext uri="{FF2B5EF4-FFF2-40B4-BE49-F238E27FC236}">
                <a16:creationId xmlns:a16="http://schemas.microsoft.com/office/drawing/2014/main" id="{0C2F3F6F-92CA-2042-FE76-48A3D7F527B3}"/>
              </a:ext>
            </a:extLst>
          </p:cNvPr>
          <p:cNvPicPr>
            <a:picLocks noChangeAspect="1"/>
          </p:cNvPicPr>
          <p:nvPr/>
        </p:nvPicPr>
        <p:blipFill>
          <a:blip r:embed="rId3">
            <a:alphaModFix amt="20000"/>
          </a:blip>
          <a:stretch>
            <a:fillRect/>
          </a:stretch>
        </p:blipFill>
        <p:spPr>
          <a:xfrm rot="19183380">
            <a:off x="6266919" y="3156671"/>
            <a:ext cx="7717082" cy="3854190"/>
          </a:xfrm>
          <a:prstGeom prst="rect">
            <a:avLst/>
          </a:prstGeom>
        </p:spPr>
      </p:pic>
    </p:spTree>
    <p:extLst>
      <p:ext uri="{BB962C8B-B14F-4D97-AF65-F5344CB8AC3E}">
        <p14:creationId xmlns:p14="http://schemas.microsoft.com/office/powerpoint/2010/main" val="4107918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5"/>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D9600B"/>
                </a:solidFill>
                <a:latin typeface="Calibri" pitchFamily="34" charset="0"/>
                <a:ea typeface="Calibri" pitchFamily="34" charset="-122"/>
                <a:cs typeface="Calibri" pitchFamily="34" charset="-120"/>
              </a:rPr>
              <a:t>THE OPPORTUNITY</a:t>
            </a:r>
            <a:endParaRPr lang="en-US" sz="1200" dirty="0"/>
          </a:p>
        </p:txBody>
      </p:sp>
      <p:sp>
        <p:nvSpPr>
          <p:cNvPr id="3" name="Text 1"/>
          <p:cNvSpPr txBox="1"/>
          <p:nvPr/>
        </p:nvSpPr>
        <p:spPr>
          <a:xfrm>
            <a:off x="539496" y="914400"/>
            <a:ext cx="10515600" cy="822960"/>
          </a:xfrm>
          <a:prstGeom prst="rect">
            <a:avLst/>
          </a:prstGeom>
          <a:noFill/>
          <a:ln/>
        </p:spPr>
        <p:txBody>
          <a:bodyPr wrap="square" lIns="0" tIns="0" rIns="0" bIns="0" rtlCol="0" anchor="ctr"/>
          <a:lstStyle/>
          <a:p>
            <a:pPr marL="0" indent="0">
              <a:buNone/>
            </a:pPr>
            <a:r>
              <a:rPr lang="en-US" sz="3200" b="1" dirty="0">
                <a:solidFill>
                  <a:srgbClr val="24282A"/>
                </a:solidFill>
                <a:latin typeface="Cambria" pitchFamily="34" charset="0"/>
                <a:ea typeface="Cambria" pitchFamily="34" charset="-122"/>
                <a:cs typeface="Cambria" pitchFamily="34" charset="-120"/>
              </a:rPr>
              <a:t>Madrid has the engineers.</a:t>
            </a:r>
            <a:endParaRPr lang="en-US" sz="3200" dirty="0"/>
          </a:p>
          <a:p>
            <a:pPr marL="0" indent="0">
              <a:buNone/>
            </a:pPr>
            <a:r>
              <a:rPr lang="en-US" sz="3200" b="1" dirty="0">
                <a:solidFill>
                  <a:srgbClr val="24282A"/>
                </a:solidFill>
                <a:latin typeface="Cambria" pitchFamily="34" charset="0"/>
                <a:ea typeface="Cambria" pitchFamily="34" charset="-122"/>
                <a:cs typeface="Cambria" pitchFamily="34" charset="-120"/>
              </a:rPr>
              <a:t>It doesn't yet have the room.</a:t>
            </a:r>
            <a:endParaRPr lang="en-US" sz="3200" dirty="0"/>
          </a:p>
        </p:txBody>
      </p:sp>
      <p:sp>
        <p:nvSpPr>
          <p:cNvPr id="4" name="Shape 2"/>
          <p:cNvSpPr/>
          <p:nvPr/>
        </p:nvSpPr>
        <p:spPr>
          <a:xfrm>
            <a:off x="548640" y="2057400"/>
            <a:ext cx="2514600" cy="2423160"/>
          </a:xfrm>
          <a:prstGeom prst="roundRect">
            <a:avLst>
              <a:gd name="adj" fmla="val 3019"/>
            </a:avLst>
          </a:prstGeom>
          <a:solidFill>
            <a:srgbClr val="FFFFFF"/>
          </a:solidFill>
          <a:ln w="9525">
            <a:solidFill>
              <a:srgbClr val="B7C0C3"/>
            </a:solidFill>
            <a:prstDash val="solid"/>
          </a:ln>
          <a:effectLst>
            <a:outerShdw blurRad="76200" dist="25400" dir="5400000" algn="bl" rotWithShape="0">
              <a:srgbClr val="7C8689">
                <a:alpha val="25000"/>
              </a:srgbClr>
            </a:outerShdw>
          </a:effectLst>
        </p:spPr>
        <p:txBody>
          <a:bodyPr/>
          <a:lstStyle/>
          <a:p>
            <a:endParaRPr lang="en-US"/>
          </a:p>
        </p:txBody>
      </p:sp>
      <p:sp>
        <p:nvSpPr>
          <p:cNvPr id="5" name="Text 3"/>
          <p:cNvSpPr txBox="1"/>
          <p:nvPr/>
        </p:nvSpPr>
        <p:spPr>
          <a:xfrm>
            <a:off x="548640" y="2331720"/>
            <a:ext cx="2514600" cy="822960"/>
          </a:xfrm>
          <a:prstGeom prst="rect">
            <a:avLst/>
          </a:prstGeom>
          <a:noFill/>
          <a:ln/>
        </p:spPr>
        <p:txBody>
          <a:bodyPr wrap="square" lIns="0" tIns="0" rIns="0" bIns="0" rtlCol="0" anchor="ctr"/>
          <a:lstStyle/>
          <a:p>
            <a:pPr marL="0" indent="0" algn="ctr">
              <a:buNone/>
            </a:pPr>
            <a:r>
              <a:rPr lang="en-US" sz="4000" b="1" dirty="0">
                <a:solidFill>
                  <a:srgbClr val="D9600B"/>
                </a:solidFill>
                <a:latin typeface="Cambria" pitchFamily="34" charset="0"/>
                <a:ea typeface="Cambria" pitchFamily="34" charset="-122"/>
                <a:cs typeface="Cambria" pitchFamily="34" charset="-120"/>
              </a:rPr>
              <a:t>0</a:t>
            </a:r>
            <a:endParaRPr lang="en-US" sz="4000" dirty="0"/>
          </a:p>
        </p:txBody>
      </p:sp>
      <p:sp>
        <p:nvSpPr>
          <p:cNvPr id="6" name="Text 4"/>
          <p:cNvSpPr/>
          <p:nvPr/>
        </p:nvSpPr>
        <p:spPr>
          <a:xfrm>
            <a:off x="685800" y="3291840"/>
            <a:ext cx="2240280" cy="1005840"/>
          </a:xfrm>
          <a:prstGeom prst="rect">
            <a:avLst/>
          </a:prstGeom>
          <a:noFill/>
          <a:ln/>
        </p:spPr>
        <p:txBody>
          <a:bodyPr wrap="square" rtlCol="0" anchor="ctr"/>
          <a:lstStyle/>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Dedicated, recurring</a:t>
            </a:r>
            <a:endParaRPr lang="en-US" sz="1250" dirty="0"/>
          </a:p>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network-automation</a:t>
            </a:r>
            <a:endParaRPr lang="en-US" sz="1250" dirty="0"/>
          </a:p>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meetups in Madrid</a:t>
            </a:r>
            <a:endParaRPr lang="en-US" sz="1250" dirty="0"/>
          </a:p>
        </p:txBody>
      </p:sp>
      <p:sp>
        <p:nvSpPr>
          <p:cNvPr id="7" name="Shape 5"/>
          <p:cNvSpPr/>
          <p:nvPr/>
        </p:nvSpPr>
        <p:spPr>
          <a:xfrm>
            <a:off x="3319272" y="2057400"/>
            <a:ext cx="2514600" cy="2423160"/>
          </a:xfrm>
          <a:prstGeom prst="roundRect">
            <a:avLst>
              <a:gd name="adj" fmla="val 3019"/>
            </a:avLst>
          </a:prstGeom>
          <a:solidFill>
            <a:srgbClr val="FFFFFF"/>
          </a:solidFill>
          <a:ln w="9525">
            <a:solidFill>
              <a:srgbClr val="B7C0C3"/>
            </a:solidFill>
            <a:prstDash val="solid"/>
          </a:ln>
          <a:effectLst>
            <a:outerShdw blurRad="76200" dist="25400" dir="5400000" algn="bl" rotWithShape="0">
              <a:srgbClr val="7C8689">
                <a:alpha val="25000"/>
              </a:srgbClr>
            </a:outerShdw>
          </a:effectLst>
        </p:spPr>
        <p:txBody>
          <a:bodyPr/>
          <a:lstStyle/>
          <a:p>
            <a:endParaRPr lang="en-US"/>
          </a:p>
        </p:txBody>
      </p:sp>
      <p:sp>
        <p:nvSpPr>
          <p:cNvPr id="8" name="Text 6"/>
          <p:cNvSpPr txBox="1"/>
          <p:nvPr/>
        </p:nvSpPr>
        <p:spPr>
          <a:xfrm>
            <a:off x="3319272" y="2331720"/>
            <a:ext cx="2514600" cy="822960"/>
          </a:xfrm>
          <a:prstGeom prst="rect">
            <a:avLst/>
          </a:prstGeom>
          <a:noFill/>
          <a:ln/>
        </p:spPr>
        <p:txBody>
          <a:bodyPr wrap="square" lIns="0" tIns="0" rIns="0" bIns="0" rtlCol="0" anchor="ctr"/>
          <a:lstStyle/>
          <a:p>
            <a:pPr marL="0" indent="0" algn="ctr">
              <a:buNone/>
            </a:pPr>
            <a:r>
              <a:rPr lang="en-US" sz="4000" b="1" dirty="0">
                <a:solidFill>
                  <a:srgbClr val="D9600B"/>
                </a:solidFill>
                <a:latin typeface="Cambria" pitchFamily="34" charset="0"/>
                <a:ea typeface="Cambria" pitchFamily="34" charset="-122"/>
                <a:cs typeface="Cambria" pitchFamily="34" charset="-120"/>
              </a:rPr>
              <a:t>1st</a:t>
            </a:r>
            <a:endParaRPr lang="en-US" sz="4000" dirty="0"/>
          </a:p>
        </p:txBody>
      </p:sp>
      <p:sp>
        <p:nvSpPr>
          <p:cNvPr id="9" name="Text 7"/>
          <p:cNvSpPr/>
          <p:nvPr/>
        </p:nvSpPr>
        <p:spPr>
          <a:xfrm>
            <a:off x="3456432" y="3291840"/>
            <a:ext cx="2240280" cy="1005840"/>
          </a:xfrm>
          <a:prstGeom prst="rect">
            <a:avLst/>
          </a:prstGeom>
          <a:noFill/>
          <a:ln/>
        </p:spPr>
        <p:txBody>
          <a:bodyPr wrap="square" rtlCol="0" anchor="ctr"/>
          <a:lstStyle/>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Largest tech hub</a:t>
            </a:r>
            <a:endParaRPr lang="en-US" sz="1250" dirty="0"/>
          </a:p>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in Spain</a:t>
            </a:r>
            <a:endParaRPr lang="en-US" sz="1250" dirty="0"/>
          </a:p>
        </p:txBody>
      </p:sp>
      <p:sp>
        <p:nvSpPr>
          <p:cNvPr id="10" name="Shape 8"/>
          <p:cNvSpPr/>
          <p:nvPr/>
        </p:nvSpPr>
        <p:spPr>
          <a:xfrm>
            <a:off x="6089904" y="2057400"/>
            <a:ext cx="2514600" cy="2423160"/>
          </a:xfrm>
          <a:prstGeom prst="roundRect">
            <a:avLst>
              <a:gd name="adj" fmla="val 3019"/>
            </a:avLst>
          </a:prstGeom>
          <a:solidFill>
            <a:srgbClr val="FFFFFF"/>
          </a:solidFill>
          <a:ln w="9525">
            <a:solidFill>
              <a:srgbClr val="B7C0C3"/>
            </a:solidFill>
            <a:prstDash val="solid"/>
          </a:ln>
          <a:effectLst>
            <a:outerShdw blurRad="76200" dist="25400" dir="5400000" algn="bl" rotWithShape="0">
              <a:srgbClr val="7C8689">
                <a:alpha val="25000"/>
              </a:srgbClr>
            </a:outerShdw>
          </a:effectLst>
        </p:spPr>
        <p:txBody>
          <a:bodyPr/>
          <a:lstStyle/>
          <a:p>
            <a:endParaRPr lang="en-US"/>
          </a:p>
        </p:txBody>
      </p:sp>
      <p:sp>
        <p:nvSpPr>
          <p:cNvPr id="11" name="Text 9"/>
          <p:cNvSpPr txBox="1"/>
          <p:nvPr/>
        </p:nvSpPr>
        <p:spPr>
          <a:xfrm>
            <a:off x="6089904" y="2331720"/>
            <a:ext cx="2514600" cy="822960"/>
          </a:xfrm>
          <a:prstGeom prst="rect">
            <a:avLst/>
          </a:prstGeom>
          <a:noFill/>
          <a:ln/>
        </p:spPr>
        <p:txBody>
          <a:bodyPr wrap="square" lIns="0" tIns="0" rIns="0" bIns="0" rtlCol="0" anchor="ctr"/>
          <a:lstStyle/>
          <a:p>
            <a:pPr marL="0" indent="0" algn="ctr">
              <a:buNone/>
            </a:pPr>
            <a:r>
              <a:rPr lang="en-US" sz="4000" b="1" dirty="0">
                <a:solidFill>
                  <a:srgbClr val="D9600B"/>
                </a:solidFill>
                <a:latin typeface="Cambria" pitchFamily="34" charset="0"/>
                <a:ea typeface="Cambria" pitchFamily="34" charset="-122"/>
                <a:cs typeface="Cambria" pitchFamily="34" charset="-120"/>
              </a:rPr>
              <a:t>50%+</a:t>
            </a:r>
            <a:endParaRPr lang="en-US" sz="4000" dirty="0"/>
          </a:p>
        </p:txBody>
      </p:sp>
      <p:sp>
        <p:nvSpPr>
          <p:cNvPr id="12" name="Text 10"/>
          <p:cNvSpPr/>
          <p:nvPr/>
        </p:nvSpPr>
        <p:spPr>
          <a:xfrm>
            <a:off x="6227064" y="3291840"/>
            <a:ext cx="2240280" cy="1005840"/>
          </a:xfrm>
          <a:prstGeom prst="rect">
            <a:avLst/>
          </a:prstGeom>
          <a:noFill/>
          <a:ln/>
        </p:spPr>
        <p:txBody>
          <a:bodyPr wrap="square" rtlCol="0" anchor="ctr"/>
          <a:lstStyle/>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Of enterprises now</a:t>
            </a:r>
            <a:endParaRPr lang="en-US" sz="1250" dirty="0"/>
          </a:p>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automating networks</a:t>
            </a:r>
            <a:endParaRPr lang="en-US" sz="1250" dirty="0"/>
          </a:p>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(Gartner)</a:t>
            </a:r>
            <a:endParaRPr lang="en-US" sz="1250" dirty="0"/>
          </a:p>
        </p:txBody>
      </p:sp>
      <p:sp>
        <p:nvSpPr>
          <p:cNvPr id="13" name="Shape 11"/>
          <p:cNvSpPr/>
          <p:nvPr/>
        </p:nvSpPr>
        <p:spPr>
          <a:xfrm>
            <a:off x="8860536" y="2057400"/>
            <a:ext cx="2514600" cy="2423160"/>
          </a:xfrm>
          <a:prstGeom prst="roundRect">
            <a:avLst>
              <a:gd name="adj" fmla="val 3019"/>
            </a:avLst>
          </a:prstGeom>
          <a:solidFill>
            <a:srgbClr val="FFFFFF"/>
          </a:solidFill>
          <a:ln w="9525">
            <a:solidFill>
              <a:srgbClr val="B7C0C3"/>
            </a:solidFill>
            <a:prstDash val="solid"/>
          </a:ln>
          <a:effectLst>
            <a:outerShdw blurRad="76200" dist="25400" dir="5400000" algn="bl" rotWithShape="0">
              <a:srgbClr val="7C8689">
                <a:alpha val="25000"/>
              </a:srgbClr>
            </a:outerShdw>
          </a:effectLst>
        </p:spPr>
        <p:txBody>
          <a:bodyPr/>
          <a:lstStyle/>
          <a:p>
            <a:endParaRPr lang="en-US"/>
          </a:p>
        </p:txBody>
      </p:sp>
      <p:sp>
        <p:nvSpPr>
          <p:cNvPr id="14" name="Text 12"/>
          <p:cNvSpPr txBox="1"/>
          <p:nvPr/>
        </p:nvSpPr>
        <p:spPr>
          <a:xfrm>
            <a:off x="8860536" y="2331720"/>
            <a:ext cx="2514600" cy="822960"/>
          </a:xfrm>
          <a:prstGeom prst="rect">
            <a:avLst/>
          </a:prstGeom>
          <a:noFill/>
          <a:ln/>
        </p:spPr>
        <p:txBody>
          <a:bodyPr wrap="square" lIns="0" tIns="0" rIns="0" bIns="0" rtlCol="0" anchor="ctr"/>
          <a:lstStyle/>
          <a:p>
            <a:pPr marL="0" indent="0" algn="ctr">
              <a:buNone/>
            </a:pPr>
            <a:r>
              <a:rPr lang="en-US" sz="4000" b="1" dirty="0">
                <a:solidFill>
                  <a:srgbClr val="D9600B"/>
                </a:solidFill>
                <a:latin typeface="Cambria" pitchFamily="34" charset="0"/>
                <a:ea typeface="Cambria" pitchFamily="34" charset="-122"/>
                <a:cs typeface="Cambria" pitchFamily="34" charset="-120"/>
              </a:rPr>
              <a:t>1000s</a:t>
            </a:r>
            <a:endParaRPr lang="en-US" sz="4000" dirty="0"/>
          </a:p>
        </p:txBody>
      </p:sp>
      <p:sp>
        <p:nvSpPr>
          <p:cNvPr id="15" name="Text 13"/>
          <p:cNvSpPr/>
          <p:nvPr/>
        </p:nvSpPr>
        <p:spPr>
          <a:xfrm>
            <a:off x="8997696" y="3291840"/>
            <a:ext cx="2240280" cy="1005840"/>
          </a:xfrm>
          <a:prstGeom prst="rect">
            <a:avLst/>
          </a:prstGeom>
          <a:noFill/>
          <a:ln/>
        </p:spPr>
        <p:txBody>
          <a:bodyPr wrap="square" rtlCol="0" anchor="ctr"/>
          <a:lstStyle/>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Network engineers in</a:t>
            </a:r>
            <a:endParaRPr lang="en-US" sz="1250" dirty="0"/>
          </a:p>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Madrid's telco, bank</a:t>
            </a:r>
            <a:endParaRPr lang="en-US" sz="1250" dirty="0"/>
          </a:p>
          <a:p>
            <a:pPr marL="0" indent="0" algn="ctr">
              <a:lnSpc>
                <a:spcPts val="1500"/>
              </a:lnSpc>
              <a:buNone/>
            </a:pPr>
            <a:r>
              <a:rPr lang="en-US" sz="1250" dirty="0">
                <a:solidFill>
                  <a:srgbClr val="24282A"/>
                </a:solidFill>
                <a:latin typeface="Calibri" pitchFamily="34" charset="0"/>
                <a:ea typeface="Calibri" pitchFamily="34" charset="-122"/>
                <a:cs typeface="Calibri" pitchFamily="34" charset="-120"/>
              </a:rPr>
              <a:t>&amp; cloud sector</a:t>
            </a:r>
            <a:endParaRPr lang="en-US" sz="1250" dirty="0"/>
          </a:p>
        </p:txBody>
      </p:sp>
      <p:sp>
        <p:nvSpPr>
          <p:cNvPr id="16" name="Shape 14"/>
          <p:cNvSpPr/>
          <p:nvPr/>
        </p:nvSpPr>
        <p:spPr>
          <a:xfrm>
            <a:off x="548640" y="4800600"/>
            <a:ext cx="10826496" cy="1371600"/>
          </a:xfrm>
          <a:prstGeom prst="roundRect">
            <a:avLst>
              <a:gd name="adj" fmla="val 5333"/>
            </a:avLst>
          </a:prstGeom>
          <a:solidFill>
            <a:srgbClr val="272E31"/>
          </a:solidFill>
          <a:ln/>
        </p:spPr>
        <p:txBody>
          <a:bodyPr/>
          <a:lstStyle/>
          <a:p>
            <a:endParaRPr lang="en-US"/>
          </a:p>
        </p:txBody>
      </p:sp>
      <p:sp>
        <p:nvSpPr>
          <p:cNvPr id="17" name="Text 15"/>
          <p:cNvSpPr/>
          <p:nvPr/>
        </p:nvSpPr>
        <p:spPr>
          <a:xfrm>
            <a:off x="868680" y="4983480"/>
            <a:ext cx="10186416" cy="1005840"/>
          </a:xfrm>
          <a:prstGeom prst="rect">
            <a:avLst/>
          </a:prstGeom>
          <a:noFill/>
          <a:ln/>
        </p:spPr>
        <p:txBody>
          <a:bodyPr wrap="square" rtlCol="0" anchor="ctr"/>
          <a:lstStyle/>
          <a:p>
            <a:pPr marL="0" indent="0">
              <a:lnSpc>
                <a:spcPts val="1800"/>
              </a:lnSpc>
              <a:buNone/>
            </a:pPr>
            <a:r>
              <a:rPr lang="en-US" sz="1300" b="1" dirty="0">
                <a:solidFill>
                  <a:srgbClr val="F0A868"/>
                </a:solidFill>
                <a:latin typeface="Calibri" pitchFamily="34" charset="0"/>
                <a:ea typeface="Calibri" pitchFamily="34" charset="-122"/>
                <a:cs typeface="Calibri" pitchFamily="34" charset="-120"/>
              </a:rPr>
              <a:t>The gap: </a:t>
            </a:r>
            <a:r>
              <a:rPr lang="en-US" sz="1300" dirty="0">
                <a:solidFill>
                  <a:srgbClr val="C7D0D3"/>
                </a:solidFill>
                <a:latin typeface="Calibri" pitchFamily="34" charset="0"/>
                <a:ea typeface="Calibri" pitchFamily="34" charset="-122"/>
                <a:cs typeface="Calibri" pitchFamily="34" charset="-120"/>
              </a:rPr>
              <a:t>Barcelona has NetBCN. Spain has ESNOG. Globally, engineers have the Network Automation Forum (NAF – </a:t>
            </a:r>
            <a:r>
              <a:rPr lang="en-US" sz="1300" dirty="0" err="1">
                <a:solidFill>
                  <a:srgbClr val="C7D0D3"/>
                </a:solidFill>
                <a:latin typeface="Calibri" pitchFamily="34" charset="0"/>
                <a:ea typeface="Calibri" pitchFamily="34" charset="-122"/>
                <a:cs typeface="Calibri" pitchFamily="34" charset="-120"/>
              </a:rPr>
              <a:t>AutoCon</a:t>
            </a:r>
            <a:r>
              <a:rPr lang="en-US" sz="1300" dirty="0">
                <a:solidFill>
                  <a:srgbClr val="C7D0D3"/>
                </a:solidFill>
                <a:latin typeface="Calibri" pitchFamily="34" charset="0"/>
                <a:ea typeface="Calibri" pitchFamily="34" charset="-122"/>
                <a:cs typeface="Calibri" pitchFamily="34" charset="-120"/>
              </a:rPr>
              <a:t>). Madrid's practitioners currently travel, watch recordings, or go without — there's no local, vendor-neutral home for this conversation.</a:t>
            </a:r>
            <a:endParaRPr lang="en-US" sz="1300" dirty="0"/>
          </a:p>
        </p:txBody>
      </p:sp>
      <p:sp>
        <p:nvSpPr>
          <p:cNvPr id="18" name="Text 16"/>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7C8689"/>
                </a:solidFill>
                <a:latin typeface="Calibri" pitchFamily="34" charset="0"/>
                <a:ea typeface="Calibri" pitchFamily="34" charset="-122"/>
                <a:cs typeface="Calibri" pitchFamily="34" charset="-120"/>
              </a:rPr>
              <a:t>02</a:t>
            </a:r>
            <a:endParaRPr lang="en-US" sz="1000" dirty="0"/>
          </a:p>
        </p:txBody>
      </p:sp>
      <p:pic>
        <p:nvPicPr>
          <p:cNvPr id="24" name="Picture 23">
            <a:extLst>
              <a:ext uri="{FF2B5EF4-FFF2-40B4-BE49-F238E27FC236}">
                <a16:creationId xmlns:a16="http://schemas.microsoft.com/office/drawing/2014/main" id="{AF073D20-57C1-122C-4ED6-64CBD9E4C22D}"/>
              </a:ext>
            </a:extLst>
          </p:cNvPr>
          <p:cNvPicPr>
            <a:picLocks noChangeAspect="1"/>
          </p:cNvPicPr>
          <p:nvPr/>
        </p:nvPicPr>
        <p:blipFill>
          <a:blip r:embed="rId3">
            <a:alphaModFix amt="20000"/>
          </a:blip>
          <a:stretch>
            <a:fillRect/>
          </a:stretch>
        </p:blipFill>
        <p:spPr>
          <a:xfrm rot="13521678">
            <a:off x="10581708" y="216126"/>
            <a:ext cx="1860102" cy="9290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D9600B"/>
                </a:solidFill>
                <a:latin typeface="Calibri" pitchFamily="34" charset="0"/>
                <a:ea typeface="Calibri" pitchFamily="34" charset="-122"/>
                <a:cs typeface="Calibri" pitchFamily="34" charset="-120"/>
              </a:rPr>
              <a:t>VISION &amp; MISSION</a:t>
            </a:r>
            <a:endParaRPr lang="en-US" sz="12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24282A"/>
                </a:solidFill>
                <a:latin typeface="Cambria" pitchFamily="34" charset="0"/>
                <a:ea typeface="Cambria" pitchFamily="34" charset="-122"/>
                <a:cs typeface="Cambria" pitchFamily="34" charset="-120"/>
              </a:rPr>
              <a:t>Why NetMAD exists</a:t>
            </a:r>
            <a:endParaRPr lang="en-US" sz="3200" dirty="0"/>
          </a:p>
        </p:txBody>
      </p:sp>
      <p:sp>
        <p:nvSpPr>
          <p:cNvPr id="4" name="Shape 2"/>
          <p:cNvSpPr/>
          <p:nvPr/>
        </p:nvSpPr>
        <p:spPr>
          <a:xfrm>
            <a:off x="548640" y="1965960"/>
            <a:ext cx="5394960" cy="4480560"/>
          </a:xfrm>
          <a:prstGeom prst="roundRect">
            <a:avLst>
              <a:gd name="adj" fmla="val 2041"/>
            </a:avLst>
          </a:prstGeom>
          <a:solidFill>
            <a:srgbClr val="272E31"/>
          </a:solidFill>
          <a:ln/>
        </p:spPr>
        <p:txBody>
          <a:bodyPr/>
          <a:lstStyle/>
          <a:p>
            <a:endParaRPr lang="en-US"/>
          </a:p>
        </p:txBody>
      </p:sp>
      <p:sp>
        <p:nvSpPr>
          <p:cNvPr id="16" name="Text 14"/>
          <p:cNvSpPr/>
          <p:nvPr/>
        </p:nvSpPr>
        <p:spPr>
          <a:xfrm>
            <a:off x="868680" y="2971800"/>
            <a:ext cx="4572000" cy="292608"/>
          </a:xfrm>
          <a:prstGeom prst="rect">
            <a:avLst/>
          </a:prstGeom>
          <a:noFill/>
          <a:ln/>
        </p:spPr>
        <p:txBody>
          <a:bodyPr wrap="square" rtlCol="0" anchor="ctr"/>
          <a:lstStyle/>
          <a:p>
            <a:pPr marL="0" indent="0">
              <a:buNone/>
            </a:pPr>
            <a:r>
              <a:rPr lang="en-US" sz="1300" b="1" kern="0" spc="200" dirty="0">
                <a:solidFill>
                  <a:srgbClr val="F0A868"/>
                </a:solidFill>
                <a:latin typeface="Calibri" pitchFamily="34" charset="0"/>
                <a:ea typeface="Calibri" pitchFamily="34" charset="-122"/>
                <a:cs typeface="Calibri" pitchFamily="34" charset="-120"/>
              </a:rPr>
              <a:t>VISION</a:t>
            </a:r>
            <a:endParaRPr lang="en-US" sz="1300" dirty="0"/>
          </a:p>
        </p:txBody>
      </p:sp>
      <p:sp>
        <p:nvSpPr>
          <p:cNvPr id="17" name="Text 15"/>
          <p:cNvSpPr/>
          <p:nvPr/>
        </p:nvSpPr>
        <p:spPr>
          <a:xfrm>
            <a:off x="868680" y="3310128"/>
            <a:ext cx="4754880" cy="1234440"/>
          </a:xfrm>
          <a:prstGeom prst="rect">
            <a:avLst/>
          </a:prstGeom>
          <a:noFill/>
          <a:ln/>
        </p:spPr>
        <p:txBody>
          <a:bodyPr wrap="square" rtlCol="0" anchor="ctr"/>
          <a:lstStyle/>
          <a:p>
            <a:pPr marL="0" indent="0">
              <a:lnSpc>
                <a:spcPts val="2100"/>
              </a:lnSpc>
              <a:buNone/>
            </a:pPr>
            <a:r>
              <a:rPr lang="en-US" sz="1650" dirty="0">
                <a:solidFill>
                  <a:srgbClr val="FFFFFF"/>
                </a:solidFill>
                <a:latin typeface="Cambria" pitchFamily="34" charset="0"/>
                <a:ea typeface="Cambria" pitchFamily="34" charset="-122"/>
                <a:cs typeface="Cambria" pitchFamily="34" charset="-120"/>
              </a:rPr>
              <a:t>Madrid becomes a reference hub for network automation in Southern Europe — a place where engineers learn, hire, and build together.</a:t>
            </a:r>
            <a:endParaRPr lang="en-US" sz="1650" dirty="0"/>
          </a:p>
        </p:txBody>
      </p:sp>
      <p:sp>
        <p:nvSpPr>
          <p:cNvPr id="18" name="Shape 16"/>
          <p:cNvSpPr/>
          <p:nvPr/>
        </p:nvSpPr>
        <p:spPr>
          <a:xfrm>
            <a:off x="868680" y="4617720"/>
            <a:ext cx="4754880" cy="0"/>
          </a:xfrm>
          <a:prstGeom prst="line">
            <a:avLst/>
          </a:prstGeom>
          <a:noFill/>
          <a:ln w="12700">
            <a:solidFill>
              <a:srgbClr val="424C4F"/>
            </a:solidFill>
            <a:prstDash val="solid"/>
          </a:ln>
        </p:spPr>
        <p:txBody>
          <a:bodyPr/>
          <a:lstStyle/>
          <a:p>
            <a:endParaRPr lang="en-US"/>
          </a:p>
        </p:txBody>
      </p:sp>
      <p:sp>
        <p:nvSpPr>
          <p:cNvPr id="19" name="Text 17"/>
          <p:cNvSpPr/>
          <p:nvPr/>
        </p:nvSpPr>
        <p:spPr>
          <a:xfrm>
            <a:off x="868680" y="4754880"/>
            <a:ext cx="4572000" cy="292608"/>
          </a:xfrm>
          <a:prstGeom prst="rect">
            <a:avLst/>
          </a:prstGeom>
          <a:noFill/>
          <a:ln/>
        </p:spPr>
        <p:txBody>
          <a:bodyPr wrap="square" rtlCol="0" anchor="ctr"/>
          <a:lstStyle/>
          <a:p>
            <a:pPr marL="0" indent="0">
              <a:buNone/>
            </a:pPr>
            <a:r>
              <a:rPr lang="en-US" sz="1300" b="1" kern="0" spc="200" dirty="0">
                <a:solidFill>
                  <a:srgbClr val="F0A868"/>
                </a:solidFill>
                <a:latin typeface="Calibri" pitchFamily="34" charset="0"/>
                <a:ea typeface="Calibri" pitchFamily="34" charset="-122"/>
                <a:cs typeface="Calibri" pitchFamily="34" charset="-120"/>
              </a:rPr>
              <a:t>MISSION</a:t>
            </a:r>
            <a:endParaRPr lang="en-US" sz="1300" dirty="0"/>
          </a:p>
        </p:txBody>
      </p:sp>
      <p:sp>
        <p:nvSpPr>
          <p:cNvPr id="20" name="Text 18"/>
          <p:cNvSpPr/>
          <p:nvPr/>
        </p:nvSpPr>
        <p:spPr>
          <a:xfrm>
            <a:off x="868680" y="5093208"/>
            <a:ext cx="4754880" cy="1234440"/>
          </a:xfrm>
          <a:prstGeom prst="rect">
            <a:avLst/>
          </a:prstGeom>
          <a:noFill/>
          <a:ln/>
        </p:spPr>
        <p:txBody>
          <a:bodyPr wrap="square" rtlCol="0" anchor="ctr"/>
          <a:lstStyle/>
          <a:p>
            <a:pPr marL="0" indent="0">
              <a:lnSpc>
                <a:spcPts val="1700"/>
              </a:lnSpc>
              <a:buNone/>
            </a:pPr>
            <a:r>
              <a:rPr lang="en-US" sz="1300" dirty="0">
                <a:solidFill>
                  <a:srgbClr val="C7D0D3"/>
                </a:solidFill>
                <a:latin typeface="Calibri" pitchFamily="34" charset="0"/>
                <a:ea typeface="Calibri" pitchFamily="34" charset="-122"/>
                <a:cs typeface="Calibri" pitchFamily="34" charset="-120"/>
              </a:rPr>
              <a:t>Run free, recurring, vendor-neutral meetups that turn isolated automation efforts into shared knowledge, real friendships, and career growth.</a:t>
            </a:r>
            <a:endParaRPr lang="en-US" sz="1300" dirty="0"/>
          </a:p>
        </p:txBody>
      </p:sp>
      <p:sp>
        <p:nvSpPr>
          <p:cNvPr id="21" name="Shape 19"/>
          <p:cNvSpPr/>
          <p:nvPr/>
        </p:nvSpPr>
        <p:spPr>
          <a:xfrm>
            <a:off x="6263640" y="1965960"/>
            <a:ext cx="5349240" cy="969264"/>
          </a:xfrm>
          <a:prstGeom prst="roundRect">
            <a:avLst>
              <a:gd name="adj" fmla="val 7547"/>
            </a:avLst>
          </a:prstGeom>
          <a:solidFill>
            <a:srgbClr val="F4F5F5"/>
          </a:solidFill>
          <a:ln w="9525">
            <a:solidFill>
              <a:srgbClr val="B7C0C3"/>
            </a:solidFill>
            <a:prstDash val="solid"/>
          </a:ln>
        </p:spPr>
        <p:txBody>
          <a:bodyPr/>
          <a:lstStyle/>
          <a:p>
            <a:endParaRPr lang="en-US"/>
          </a:p>
        </p:txBody>
      </p:sp>
      <p:sp>
        <p:nvSpPr>
          <p:cNvPr id="22" name="Shape 20"/>
          <p:cNvSpPr/>
          <p:nvPr/>
        </p:nvSpPr>
        <p:spPr>
          <a:xfrm>
            <a:off x="6446520" y="2276856"/>
            <a:ext cx="347472" cy="347472"/>
          </a:xfrm>
          <a:prstGeom prst="roundRect">
            <a:avLst>
              <a:gd name="adj" fmla="val 50000"/>
            </a:avLst>
          </a:prstGeom>
          <a:solidFill>
            <a:srgbClr val="D9600B"/>
          </a:solidFill>
          <a:ln/>
        </p:spPr>
        <p:txBody>
          <a:bodyPr/>
          <a:lstStyle/>
          <a:p>
            <a:endParaRPr lang="en-US"/>
          </a:p>
        </p:txBody>
      </p:sp>
      <p:sp>
        <p:nvSpPr>
          <p:cNvPr id="23" name="Text 21"/>
          <p:cNvSpPr/>
          <p:nvPr/>
        </p:nvSpPr>
        <p:spPr>
          <a:xfrm>
            <a:off x="6446520" y="2276856"/>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4" name="Text 22"/>
          <p:cNvSpPr/>
          <p:nvPr/>
        </p:nvSpPr>
        <p:spPr>
          <a:xfrm>
            <a:off x="6949440" y="2057400"/>
            <a:ext cx="4480560" cy="320040"/>
          </a:xfrm>
          <a:prstGeom prst="rect">
            <a:avLst/>
          </a:prstGeom>
          <a:noFill/>
          <a:ln/>
        </p:spPr>
        <p:txBody>
          <a:bodyPr wrap="square" rtlCol="0" anchor="ctr"/>
          <a:lstStyle/>
          <a:p>
            <a:pPr marL="0" indent="0">
              <a:buNone/>
            </a:pPr>
            <a:r>
              <a:rPr lang="en-US" sz="1450" b="1" dirty="0">
                <a:solidFill>
                  <a:srgbClr val="24282A"/>
                </a:solidFill>
                <a:latin typeface="Cambria" pitchFamily="34" charset="0"/>
                <a:ea typeface="Cambria" pitchFamily="34" charset="-122"/>
                <a:cs typeface="Cambria" pitchFamily="34" charset="-120"/>
              </a:rPr>
              <a:t>Vendor-neutral</a:t>
            </a:r>
            <a:endParaRPr lang="en-US" sz="1450" dirty="0"/>
          </a:p>
        </p:txBody>
      </p:sp>
      <p:sp>
        <p:nvSpPr>
          <p:cNvPr id="25" name="Text 23"/>
          <p:cNvSpPr/>
          <p:nvPr/>
        </p:nvSpPr>
        <p:spPr>
          <a:xfrm>
            <a:off x="6949440" y="2377440"/>
            <a:ext cx="4526280" cy="502920"/>
          </a:xfrm>
          <a:prstGeom prst="rect">
            <a:avLst/>
          </a:prstGeom>
          <a:noFill/>
          <a:ln/>
        </p:spPr>
        <p:txBody>
          <a:bodyPr wrap="square" rtlCol="0" anchor="ctr"/>
          <a:lstStyle/>
          <a:p>
            <a:pPr marL="0" indent="0">
              <a:lnSpc>
                <a:spcPts val="1300"/>
              </a:lnSpc>
              <a:buNone/>
            </a:pPr>
            <a:r>
              <a:rPr lang="en-US" sz="1100" dirty="0">
                <a:solidFill>
                  <a:srgbClr val="565D60"/>
                </a:solidFill>
                <a:latin typeface="Calibri" pitchFamily="34" charset="0"/>
                <a:ea typeface="Calibri" pitchFamily="34" charset="-122"/>
                <a:cs typeface="Calibri" pitchFamily="34" charset="-120"/>
              </a:rPr>
              <a:t>Content is chosen for technical merit, never as a sales pitch — sponsors fund the room, not the agenda.</a:t>
            </a:r>
            <a:endParaRPr lang="en-US" sz="1100" dirty="0"/>
          </a:p>
        </p:txBody>
      </p:sp>
      <p:sp>
        <p:nvSpPr>
          <p:cNvPr id="26" name="Shape 24"/>
          <p:cNvSpPr/>
          <p:nvPr/>
        </p:nvSpPr>
        <p:spPr>
          <a:xfrm>
            <a:off x="6263640" y="3063240"/>
            <a:ext cx="5349240" cy="969264"/>
          </a:xfrm>
          <a:prstGeom prst="roundRect">
            <a:avLst>
              <a:gd name="adj" fmla="val 7547"/>
            </a:avLst>
          </a:prstGeom>
          <a:solidFill>
            <a:srgbClr val="F4F5F5"/>
          </a:solidFill>
          <a:ln w="9525">
            <a:solidFill>
              <a:srgbClr val="B7C0C3"/>
            </a:solidFill>
            <a:prstDash val="solid"/>
          </a:ln>
        </p:spPr>
        <p:txBody>
          <a:bodyPr/>
          <a:lstStyle/>
          <a:p>
            <a:endParaRPr lang="en-US"/>
          </a:p>
        </p:txBody>
      </p:sp>
      <p:sp>
        <p:nvSpPr>
          <p:cNvPr id="27" name="Shape 25"/>
          <p:cNvSpPr/>
          <p:nvPr/>
        </p:nvSpPr>
        <p:spPr>
          <a:xfrm>
            <a:off x="6446520" y="3374136"/>
            <a:ext cx="347472" cy="347472"/>
          </a:xfrm>
          <a:prstGeom prst="roundRect">
            <a:avLst>
              <a:gd name="adj" fmla="val 50000"/>
            </a:avLst>
          </a:prstGeom>
          <a:solidFill>
            <a:srgbClr val="D9600B"/>
          </a:solidFill>
          <a:ln/>
        </p:spPr>
        <p:txBody>
          <a:bodyPr/>
          <a:lstStyle/>
          <a:p>
            <a:endParaRPr lang="en-US"/>
          </a:p>
        </p:txBody>
      </p:sp>
      <p:sp>
        <p:nvSpPr>
          <p:cNvPr id="28" name="Text 26"/>
          <p:cNvSpPr/>
          <p:nvPr/>
        </p:nvSpPr>
        <p:spPr>
          <a:xfrm>
            <a:off x="6446520" y="3374136"/>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9" name="Text 27"/>
          <p:cNvSpPr/>
          <p:nvPr/>
        </p:nvSpPr>
        <p:spPr>
          <a:xfrm>
            <a:off x="6949440" y="3154680"/>
            <a:ext cx="4480560" cy="320040"/>
          </a:xfrm>
          <a:prstGeom prst="rect">
            <a:avLst/>
          </a:prstGeom>
          <a:noFill/>
          <a:ln/>
        </p:spPr>
        <p:txBody>
          <a:bodyPr wrap="square" rtlCol="0" anchor="ctr"/>
          <a:lstStyle/>
          <a:p>
            <a:pPr marL="0" indent="0">
              <a:buNone/>
            </a:pPr>
            <a:r>
              <a:rPr lang="en-US" sz="1450" b="1" dirty="0">
                <a:solidFill>
                  <a:srgbClr val="24282A"/>
                </a:solidFill>
                <a:latin typeface="Cambria" pitchFamily="34" charset="0"/>
                <a:ea typeface="Cambria" pitchFamily="34" charset="-122"/>
                <a:cs typeface="Cambria" pitchFamily="34" charset="-120"/>
              </a:rPr>
              <a:t>Practitioner-led</a:t>
            </a:r>
            <a:endParaRPr lang="en-US" sz="1450" dirty="0"/>
          </a:p>
        </p:txBody>
      </p:sp>
      <p:sp>
        <p:nvSpPr>
          <p:cNvPr id="30" name="Text 28"/>
          <p:cNvSpPr/>
          <p:nvPr/>
        </p:nvSpPr>
        <p:spPr>
          <a:xfrm>
            <a:off x="6949440" y="3474720"/>
            <a:ext cx="4526280" cy="502920"/>
          </a:xfrm>
          <a:prstGeom prst="rect">
            <a:avLst/>
          </a:prstGeom>
          <a:noFill/>
          <a:ln/>
        </p:spPr>
        <p:txBody>
          <a:bodyPr wrap="square" rtlCol="0" anchor="ctr"/>
          <a:lstStyle/>
          <a:p>
            <a:pPr marL="0" indent="0">
              <a:lnSpc>
                <a:spcPts val="1300"/>
              </a:lnSpc>
              <a:buNone/>
            </a:pPr>
            <a:r>
              <a:rPr lang="en-US" sz="1100" dirty="0">
                <a:solidFill>
                  <a:srgbClr val="565D60"/>
                </a:solidFill>
                <a:latin typeface="Calibri" pitchFamily="34" charset="0"/>
                <a:ea typeface="Calibri" pitchFamily="34" charset="-122"/>
                <a:cs typeface="Calibri" pitchFamily="34" charset="-120"/>
              </a:rPr>
              <a:t>Talks come from engineers doing the work at Spanish operators, banks, and cloud teams — not just vendors.</a:t>
            </a:r>
            <a:endParaRPr lang="en-US" sz="1100" dirty="0"/>
          </a:p>
        </p:txBody>
      </p:sp>
      <p:sp>
        <p:nvSpPr>
          <p:cNvPr id="31" name="Shape 29"/>
          <p:cNvSpPr/>
          <p:nvPr/>
        </p:nvSpPr>
        <p:spPr>
          <a:xfrm>
            <a:off x="6263640" y="4160520"/>
            <a:ext cx="5349240" cy="969264"/>
          </a:xfrm>
          <a:prstGeom prst="roundRect">
            <a:avLst>
              <a:gd name="adj" fmla="val 7547"/>
            </a:avLst>
          </a:prstGeom>
          <a:solidFill>
            <a:srgbClr val="F4F5F5"/>
          </a:solidFill>
          <a:ln w="9525">
            <a:solidFill>
              <a:srgbClr val="B7C0C3"/>
            </a:solidFill>
            <a:prstDash val="solid"/>
          </a:ln>
        </p:spPr>
        <p:txBody>
          <a:bodyPr/>
          <a:lstStyle/>
          <a:p>
            <a:endParaRPr lang="en-US"/>
          </a:p>
        </p:txBody>
      </p:sp>
      <p:sp>
        <p:nvSpPr>
          <p:cNvPr id="32" name="Shape 30"/>
          <p:cNvSpPr/>
          <p:nvPr/>
        </p:nvSpPr>
        <p:spPr>
          <a:xfrm>
            <a:off x="6446520" y="4471416"/>
            <a:ext cx="347472" cy="347472"/>
          </a:xfrm>
          <a:prstGeom prst="roundRect">
            <a:avLst>
              <a:gd name="adj" fmla="val 50000"/>
            </a:avLst>
          </a:prstGeom>
          <a:solidFill>
            <a:srgbClr val="D9600B"/>
          </a:solidFill>
          <a:ln/>
        </p:spPr>
        <p:txBody>
          <a:bodyPr/>
          <a:lstStyle/>
          <a:p>
            <a:endParaRPr lang="en-US"/>
          </a:p>
        </p:txBody>
      </p:sp>
      <p:sp>
        <p:nvSpPr>
          <p:cNvPr id="33" name="Text 31"/>
          <p:cNvSpPr/>
          <p:nvPr/>
        </p:nvSpPr>
        <p:spPr>
          <a:xfrm>
            <a:off x="6446520" y="4471416"/>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32"/>
          <p:cNvSpPr/>
          <p:nvPr/>
        </p:nvSpPr>
        <p:spPr>
          <a:xfrm>
            <a:off x="6949440" y="4251960"/>
            <a:ext cx="4480560" cy="320040"/>
          </a:xfrm>
          <a:prstGeom prst="rect">
            <a:avLst/>
          </a:prstGeom>
          <a:noFill/>
          <a:ln/>
        </p:spPr>
        <p:txBody>
          <a:bodyPr wrap="square" rtlCol="0" anchor="ctr"/>
          <a:lstStyle/>
          <a:p>
            <a:pPr marL="0" indent="0">
              <a:buNone/>
            </a:pPr>
            <a:r>
              <a:rPr lang="en-US" sz="1450" b="1" dirty="0">
                <a:solidFill>
                  <a:srgbClr val="24282A"/>
                </a:solidFill>
                <a:latin typeface="Cambria" pitchFamily="34" charset="0"/>
                <a:ea typeface="Cambria" pitchFamily="34" charset="-122"/>
                <a:cs typeface="Cambria" pitchFamily="34" charset="-120"/>
              </a:rPr>
              <a:t>Open &amp; free</a:t>
            </a:r>
            <a:endParaRPr lang="en-US" sz="1450" dirty="0"/>
          </a:p>
        </p:txBody>
      </p:sp>
      <p:sp>
        <p:nvSpPr>
          <p:cNvPr id="35" name="Text 33"/>
          <p:cNvSpPr/>
          <p:nvPr/>
        </p:nvSpPr>
        <p:spPr>
          <a:xfrm>
            <a:off x="6949440" y="4572000"/>
            <a:ext cx="4526280" cy="502920"/>
          </a:xfrm>
          <a:prstGeom prst="rect">
            <a:avLst/>
          </a:prstGeom>
          <a:noFill/>
          <a:ln/>
        </p:spPr>
        <p:txBody>
          <a:bodyPr wrap="square" rtlCol="0" anchor="ctr"/>
          <a:lstStyle/>
          <a:p>
            <a:pPr marL="0" indent="0">
              <a:lnSpc>
                <a:spcPts val="1300"/>
              </a:lnSpc>
              <a:buNone/>
            </a:pPr>
            <a:r>
              <a:rPr lang="en-US" sz="1100" dirty="0">
                <a:solidFill>
                  <a:srgbClr val="565D60"/>
                </a:solidFill>
                <a:latin typeface="Calibri" pitchFamily="34" charset="0"/>
                <a:ea typeface="Calibri" pitchFamily="34" charset="-122"/>
                <a:cs typeface="Calibri" pitchFamily="34" charset="-120"/>
              </a:rPr>
              <a:t>Always free to attend, recordings published openly, so the whole community — not just the room — benefits.</a:t>
            </a:r>
            <a:endParaRPr lang="en-US" sz="1100" dirty="0"/>
          </a:p>
        </p:txBody>
      </p:sp>
      <p:sp>
        <p:nvSpPr>
          <p:cNvPr id="36" name="Shape 34"/>
          <p:cNvSpPr/>
          <p:nvPr/>
        </p:nvSpPr>
        <p:spPr>
          <a:xfrm>
            <a:off x="6263640" y="5257800"/>
            <a:ext cx="5349240" cy="969264"/>
          </a:xfrm>
          <a:prstGeom prst="roundRect">
            <a:avLst>
              <a:gd name="adj" fmla="val 7547"/>
            </a:avLst>
          </a:prstGeom>
          <a:solidFill>
            <a:srgbClr val="F4F5F5"/>
          </a:solidFill>
          <a:ln w="9525">
            <a:solidFill>
              <a:srgbClr val="B7C0C3"/>
            </a:solidFill>
            <a:prstDash val="solid"/>
          </a:ln>
        </p:spPr>
        <p:txBody>
          <a:bodyPr/>
          <a:lstStyle/>
          <a:p>
            <a:endParaRPr lang="en-US"/>
          </a:p>
        </p:txBody>
      </p:sp>
      <p:sp>
        <p:nvSpPr>
          <p:cNvPr id="37" name="Shape 35"/>
          <p:cNvSpPr/>
          <p:nvPr/>
        </p:nvSpPr>
        <p:spPr>
          <a:xfrm>
            <a:off x="6446520" y="5568696"/>
            <a:ext cx="347472" cy="347472"/>
          </a:xfrm>
          <a:prstGeom prst="roundRect">
            <a:avLst>
              <a:gd name="adj" fmla="val 50000"/>
            </a:avLst>
          </a:prstGeom>
          <a:solidFill>
            <a:srgbClr val="D9600B"/>
          </a:solidFill>
          <a:ln/>
        </p:spPr>
        <p:txBody>
          <a:bodyPr/>
          <a:lstStyle/>
          <a:p>
            <a:endParaRPr lang="en-US"/>
          </a:p>
        </p:txBody>
      </p:sp>
      <p:sp>
        <p:nvSpPr>
          <p:cNvPr id="38" name="Text 36"/>
          <p:cNvSpPr/>
          <p:nvPr/>
        </p:nvSpPr>
        <p:spPr>
          <a:xfrm>
            <a:off x="6446520" y="5568696"/>
            <a:ext cx="347472"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7"/>
          <p:cNvSpPr/>
          <p:nvPr/>
        </p:nvSpPr>
        <p:spPr>
          <a:xfrm>
            <a:off x="6949440" y="5349240"/>
            <a:ext cx="4480560" cy="320040"/>
          </a:xfrm>
          <a:prstGeom prst="rect">
            <a:avLst/>
          </a:prstGeom>
          <a:noFill/>
          <a:ln/>
        </p:spPr>
        <p:txBody>
          <a:bodyPr wrap="square" rtlCol="0" anchor="ctr"/>
          <a:lstStyle/>
          <a:p>
            <a:pPr marL="0" indent="0">
              <a:buNone/>
            </a:pPr>
            <a:r>
              <a:rPr lang="en-US" sz="1450" b="1" dirty="0">
                <a:solidFill>
                  <a:srgbClr val="24282A"/>
                </a:solidFill>
                <a:latin typeface="Cambria" pitchFamily="34" charset="0"/>
                <a:ea typeface="Cambria" pitchFamily="34" charset="-122"/>
                <a:cs typeface="Cambria" pitchFamily="34" charset="-120"/>
              </a:rPr>
              <a:t>Locally rooted, globally connected</a:t>
            </a:r>
            <a:endParaRPr lang="en-US" sz="1450" dirty="0"/>
          </a:p>
        </p:txBody>
      </p:sp>
      <p:sp>
        <p:nvSpPr>
          <p:cNvPr id="40" name="Text 38"/>
          <p:cNvSpPr/>
          <p:nvPr/>
        </p:nvSpPr>
        <p:spPr>
          <a:xfrm>
            <a:off x="6949440" y="5669280"/>
            <a:ext cx="4526280" cy="502920"/>
          </a:xfrm>
          <a:prstGeom prst="rect">
            <a:avLst/>
          </a:prstGeom>
          <a:noFill/>
          <a:ln/>
        </p:spPr>
        <p:txBody>
          <a:bodyPr wrap="square" rtlCol="0" anchor="ctr"/>
          <a:lstStyle/>
          <a:p>
            <a:pPr marL="0" indent="0">
              <a:lnSpc>
                <a:spcPts val="1300"/>
              </a:lnSpc>
              <a:buNone/>
            </a:pPr>
            <a:r>
              <a:rPr lang="en-US" sz="1100" dirty="0">
                <a:solidFill>
                  <a:srgbClr val="565D60"/>
                </a:solidFill>
                <a:latin typeface="Calibri" pitchFamily="34" charset="0"/>
                <a:ea typeface="Calibri" pitchFamily="34" charset="-122"/>
                <a:cs typeface="Calibri" pitchFamily="34" charset="-120"/>
              </a:rPr>
              <a:t>Built on relationships with NetBCN, NAF, and other NOGs, so Madrid plugs into the wider network automation movement.</a:t>
            </a:r>
            <a:endParaRPr lang="en-US" sz="1100" dirty="0"/>
          </a:p>
        </p:txBody>
      </p:sp>
      <p:sp>
        <p:nvSpPr>
          <p:cNvPr id="41" name="Text 3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7C8689"/>
                </a:solidFill>
                <a:latin typeface="Calibri" pitchFamily="34" charset="0"/>
                <a:ea typeface="Calibri" pitchFamily="34" charset="-122"/>
                <a:cs typeface="Calibri" pitchFamily="34" charset="-120"/>
              </a:rPr>
              <a:t>03</a:t>
            </a:r>
            <a:endParaRPr lang="en-US" sz="1000" dirty="0"/>
          </a:p>
        </p:txBody>
      </p:sp>
      <p:pic>
        <p:nvPicPr>
          <p:cNvPr id="42" name="Picture 41">
            <a:extLst>
              <a:ext uri="{FF2B5EF4-FFF2-40B4-BE49-F238E27FC236}">
                <a16:creationId xmlns:a16="http://schemas.microsoft.com/office/drawing/2014/main" id="{DA318DB0-9240-3504-5175-23461751071E}"/>
              </a:ext>
            </a:extLst>
          </p:cNvPr>
          <p:cNvPicPr>
            <a:picLocks noChangeAspect="1"/>
          </p:cNvPicPr>
          <p:nvPr/>
        </p:nvPicPr>
        <p:blipFill>
          <a:blip r:embed="rId3">
            <a:alphaModFix amt="20000"/>
          </a:blip>
          <a:stretch>
            <a:fillRect/>
          </a:stretch>
        </p:blipFill>
        <p:spPr>
          <a:xfrm rot="13521678">
            <a:off x="10581708" y="216126"/>
            <a:ext cx="1860102" cy="929002"/>
          </a:xfrm>
          <a:prstGeom prst="rect">
            <a:avLst/>
          </a:prstGeom>
        </p:spPr>
      </p:pic>
      <p:pic>
        <p:nvPicPr>
          <p:cNvPr id="43" name="Picture 42">
            <a:extLst>
              <a:ext uri="{FF2B5EF4-FFF2-40B4-BE49-F238E27FC236}">
                <a16:creationId xmlns:a16="http://schemas.microsoft.com/office/drawing/2014/main" id="{B99790CA-98CC-25A4-D90B-64EB3E65B3A5}"/>
              </a:ext>
            </a:extLst>
          </p:cNvPr>
          <p:cNvPicPr>
            <a:picLocks noChangeAspect="1"/>
          </p:cNvPicPr>
          <p:nvPr/>
        </p:nvPicPr>
        <p:blipFill>
          <a:blip r:embed="rId3">
            <a:alphaModFix amt="20000"/>
          </a:blip>
          <a:stretch>
            <a:fillRect/>
          </a:stretch>
        </p:blipFill>
        <p:spPr>
          <a:xfrm>
            <a:off x="868680" y="2162709"/>
            <a:ext cx="1473539" cy="7359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5"/>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D9600B"/>
                </a:solidFill>
                <a:latin typeface="Calibri" pitchFamily="34" charset="0"/>
                <a:ea typeface="Calibri" pitchFamily="34" charset="-122"/>
                <a:cs typeface="Calibri" pitchFamily="34" charset="-120"/>
              </a:rPr>
              <a:t>BENCHMARKS</a:t>
            </a:r>
            <a:endParaRPr lang="en-US" sz="12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24282A"/>
                </a:solidFill>
                <a:latin typeface="Cambria" pitchFamily="34" charset="0"/>
                <a:ea typeface="Cambria" pitchFamily="34" charset="-122"/>
                <a:cs typeface="Cambria" pitchFamily="34" charset="-120"/>
              </a:rPr>
              <a:t>We don't have to guess — three models already work</a:t>
            </a:r>
            <a:endParaRPr lang="en-US" sz="3200" dirty="0"/>
          </a:p>
        </p:txBody>
      </p:sp>
      <p:sp>
        <p:nvSpPr>
          <p:cNvPr id="4" name="Shape 2"/>
          <p:cNvSpPr/>
          <p:nvPr/>
        </p:nvSpPr>
        <p:spPr>
          <a:xfrm>
            <a:off x="548640" y="1965960"/>
            <a:ext cx="3520440" cy="4434840"/>
          </a:xfrm>
          <a:prstGeom prst="roundRect">
            <a:avLst>
              <a:gd name="adj" fmla="val 2597"/>
            </a:avLst>
          </a:prstGeom>
          <a:solidFill>
            <a:srgbClr val="FFFFFF"/>
          </a:solidFill>
          <a:ln w="9525">
            <a:solidFill>
              <a:srgbClr val="B7C0C3"/>
            </a:solidFill>
            <a:prstDash val="solid"/>
          </a:ln>
          <a:effectLst>
            <a:outerShdw blurRad="76200" dist="25400" dir="5400000" algn="bl" rotWithShape="0">
              <a:srgbClr val="7C8689">
                <a:alpha val="22000"/>
              </a:srgbClr>
            </a:outerShdw>
          </a:effectLst>
        </p:spPr>
        <p:txBody>
          <a:bodyPr/>
          <a:lstStyle/>
          <a:p>
            <a:endParaRPr lang="en-US"/>
          </a:p>
        </p:txBody>
      </p:sp>
      <p:sp>
        <p:nvSpPr>
          <p:cNvPr id="5" name="Shape 3"/>
          <p:cNvSpPr/>
          <p:nvPr/>
        </p:nvSpPr>
        <p:spPr>
          <a:xfrm>
            <a:off x="548640" y="1965960"/>
            <a:ext cx="3520440" cy="868680"/>
          </a:xfrm>
          <a:prstGeom prst="roundRect">
            <a:avLst>
              <a:gd name="adj" fmla="val 10526"/>
            </a:avLst>
          </a:prstGeom>
          <a:solidFill>
            <a:srgbClr val="D9600B"/>
          </a:solidFill>
          <a:ln/>
        </p:spPr>
        <p:txBody>
          <a:bodyPr/>
          <a:lstStyle/>
          <a:p>
            <a:endParaRPr lang="en-US"/>
          </a:p>
        </p:txBody>
      </p:sp>
      <p:sp>
        <p:nvSpPr>
          <p:cNvPr id="6" name="Shape 4"/>
          <p:cNvSpPr/>
          <p:nvPr/>
        </p:nvSpPr>
        <p:spPr>
          <a:xfrm>
            <a:off x="548640" y="2423160"/>
            <a:ext cx="3520440" cy="411480"/>
          </a:xfrm>
          <a:prstGeom prst="rect">
            <a:avLst/>
          </a:prstGeom>
          <a:solidFill>
            <a:srgbClr val="D9600B"/>
          </a:solidFill>
          <a:ln/>
        </p:spPr>
        <p:txBody>
          <a:bodyPr/>
          <a:lstStyle/>
          <a:p>
            <a:endParaRPr lang="en-US"/>
          </a:p>
        </p:txBody>
      </p:sp>
      <p:sp>
        <p:nvSpPr>
          <p:cNvPr id="7" name="Text 5"/>
          <p:cNvSpPr/>
          <p:nvPr/>
        </p:nvSpPr>
        <p:spPr>
          <a:xfrm>
            <a:off x="777240" y="2057400"/>
            <a:ext cx="3063240" cy="384048"/>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NetBCN</a:t>
            </a:r>
            <a:endParaRPr lang="en-US" sz="1700" dirty="0"/>
          </a:p>
        </p:txBody>
      </p:sp>
      <p:sp>
        <p:nvSpPr>
          <p:cNvPr id="8" name="Text 6"/>
          <p:cNvSpPr/>
          <p:nvPr/>
        </p:nvSpPr>
        <p:spPr>
          <a:xfrm>
            <a:off x="777240" y="2468880"/>
            <a:ext cx="3063240" cy="320040"/>
          </a:xfrm>
          <a:prstGeom prst="rect">
            <a:avLst/>
          </a:prstGeom>
          <a:noFill/>
          <a:ln/>
        </p:spPr>
        <p:txBody>
          <a:bodyPr wrap="square" rtlCol="0" anchor="ctr"/>
          <a:lstStyle/>
          <a:p>
            <a:pPr marL="0" indent="0">
              <a:buNone/>
            </a:pPr>
            <a:r>
              <a:rPr lang="en-US" sz="1050" i="1" dirty="0">
                <a:solidFill>
                  <a:srgbClr val="FFE3C9"/>
                </a:solidFill>
                <a:latin typeface="Calibri" pitchFamily="34" charset="0"/>
                <a:ea typeface="Calibri" pitchFamily="34" charset="-122"/>
                <a:cs typeface="Calibri" pitchFamily="34" charset="-120"/>
              </a:rPr>
              <a:t>Barcelona, Spain — since 2018</a:t>
            </a:r>
            <a:endParaRPr lang="en-US" sz="1050" dirty="0"/>
          </a:p>
        </p:txBody>
      </p:sp>
      <p:sp>
        <p:nvSpPr>
          <p:cNvPr id="9" name="Shape 7"/>
          <p:cNvSpPr/>
          <p:nvPr/>
        </p:nvSpPr>
        <p:spPr>
          <a:xfrm>
            <a:off x="777240" y="3081528"/>
            <a:ext cx="73152" cy="73152"/>
          </a:xfrm>
          <a:prstGeom prst="ellipse">
            <a:avLst/>
          </a:prstGeom>
          <a:solidFill>
            <a:srgbClr val="D9600B"/>
          </a:solidFill>
          <a:ln/>
        </p:spPr>
        <p:txBody>
          <a:bodyPr/>
          <a:lstStyle/>
          <a:p>
            <a:endParaRPr lang="en-US"/>
          </a:p>
        </p:txBody>
      </p:sp>
      <p:sp>
        <p:nvSpPr>
          <p:cNvPr id="10" name="Text 8"/>
          <p:cNvSpPr/>
          <p:nvPr/>
        </p:nvSpPr>
        <p:spPr>
          <a:xfrm>
            <a:off x="969264" y="2960296"/>
            <a:ext cx="2880360" cy="685800"/>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Grew from a small Discord + meetup into Catalonia's reference network-automation community</a:t>
            </a:r>
            <a:endParaRPr lang="en-US" sz="1080" dirty="0"/>
          </a:p>
        </p:txBody>
      </p:sp>
      <p:sp>
        <p:nvSpPr>
          <p:cNvPr id="11" name="Shape 9"/>
          <p:cNvSpPr/>
          <p:nvPr/>
        </p:nvSpPr>
        <p:spPr>
          <a:xfrm>
            <a:off x="777240" y="3913632"/>
            <a:ext cx="73152" cy="73152"/>
          </a:xfrm>
          <a:prstGeom prst="ellipse">
            <a:avLst/>
          </a:prstGeom>
          <a:solidFill>
            <a:srgbClr val="D9600B"/>
          </a:solidFill>
          <a:ln/>
        </p:spPr>
        <p:txBody>
          <a:bodyPr/>
          <a:lstStyle/>
          <a:p>
            <a:endParaRPr lang="en-US"/>
          </a:p>
        </p:txBody>
      </p:sp>
      <p:sp>
        <p:nvSpPr>
          <p:cNvPr id="12" name="Text 10"/>
          <p:cNvSpPr/>
          <p:nvPr/>
        </p:nvSpPr>
        <p:spPr>
          <a:xfrm>
            <a:off x="969264" y="3849624"/>
            <a:ext cx="2880360" cy="384048"/>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Free evening events hosted by local companies, rotating venues</a:t>
            </a:r>
            <a:endParaRPr lang="en-US" sz="1080" dirty="0"/>
          </a:p>
        </p:txBody>
      </p:sp>
      <p:sp>
        <p:nvSpPr>
          <p:cNvPr id="13" name="Shape 11"/>
          <p:cNvSpPr/>
          <p:nvPr/>
        </p:nvSpPr>
        <p:spPr>
          <a:xfrm>
            <a:off x="777240" y="4443984"/>
            <a:ext cx="73152" cy="73152"/>
          </a:xfrm>
          <a:prstGeom prst="ellipse">
            <a:avLst/>
          </a:prstGeom>
          <a:solidFill>
            <a:srgbClr val="D9600B"/>
          </a:solidFill>
          <a:ln/>
        </p:spPr>
        <p:txBody>
          <a:bodyPr/>
          <a:lstStyle/>
          <a:p>
            <a:endParaRPr lang="en-US"/>
          </a:p>
        </p:txBody>
      </p:sp>
      <p:sp>
        <p:nvSpPr>
          <p:cNvPr id="14" name="Text 12"/>
          <p:cNvSpPr/>
          <p:nvPr/>
        </p:nvSpPr>
        <p:spPr>
          <a:xfrm>
            <a:off x="969264" y="4379976"/>
            <a:ext cx="2880360" cy="384048"/>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Talks from practitioners + one moderated panel per session</a:t>
            </a:r>
            <a:endParaRPr lang="en-US" sz="1080" dirty="0"/>
          </a:p>
        </p:txBody>
      </p:sp>
      <p:sp>
        <p:nvSpPr>
          <p:cNvPr id="15" name="Shape 13"/>
          <p:cNvSpPr/>
          <p:nvPr/>
        </p:nvSpPr>
        <p:spPr>
          <a:xfrm>
            <a:off x="777240" y="4974336"/>
            <a:ext cx="73152" cy="73152"/>
          </a:xfrm>
          <a:prstGeom prst="ellipse">
            <a:avLst/>
          </a:prstGeom>
          <a:solidFill>
            <a:srgbClr val="D9600B"/>
          </a:solidFill>
          <a:ln/>
        </p:spPr>
        <p:txBody>
          <a:bodyPr/>
          <a:lstStyle/>
          <a:p>
            <a:endParaRPr lang="en-US"/>
          </a:p>
        </p:txBody>
      </p:sp>
      <p:sp>
        <p:nvSpPr>
          <p:cNvPr id="16" name="Text 14"/>
          <p:cNvSpPr/>
          <p:nvPr/>
        </p:nvSpPr>
        <p:spPr>
          <a:xfrm>
            <a:off x="969264" y="4910328"/>
            <a:ext cx="2880360" cy="384048"/>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Now feeds speakers and ideas directly into NAF's AutoCon</a:t>
            </a:r>
            <a:endParaRPr lang="en-US" sz="1080" dirty="0"/>
          </a:p>
        </p:txBody>
      </p:sp>
      <p:sp>
        <p:nvSpPr>
          <p:cNvPr id="17" name="Shape 15"/>
          <p:cNvSpPr/>
          <p:nvPr/>
        </p:nvSpPr>
        <p:spPr>
          <a:xfrm>
            <a:off x="4288536" y="1965960"/>
            <a:ext cx="3520440" cy="4434840"/>
          </a:xfrm>
          <a:prstGeom prst="roundRect">
            <a:avLst>
              <a:gd name="adj" fmla="val 2597"/>
            </a:avLst>
          </a:prstGeom>
          <a:solidFill>
            <a:srgbClr val="FFFFFF"/>
          </a:solidFill>
          <a:ln w="9525">
            <a:solidFill>
              <a:srgbClr val="B7C0C3"/>
            </a:solidFill>
            <a:prstDash val="solid"/>
          </a:ln>
          <a:effectLst>
            <a:outerShdw blurRad="76200" dist="25400" dir="5400000" algn="bl" rotWithShape="0">
              <a:srgbClr val="7C8689">
                <a:alpha val="22000"/>
              </a:srgbClr>
            </a:outerShdw>
          </a:effectLst>
        </p:spPr>
        <p:txBody>
          <a:bodyPr/>
          <a:lstStyle/>
          <a:p>
            <a:endParaRPr lang="en-US"/>
          </a:p>
        </p:txBody>
      </p:sp>
      <p:sp>
        <p:nvSpPr>
          <p:cNvPr id="18" name="Shape 16"/>
          <p:cNvSpPr/>
          <p:nvPr/>
        </p:nvSpPr>
        <p:spPr>
          <a:xfrm>
            <a:off x="4288536" y="1965960"/>
            <a:ext cx="3520440" cy="868680"/>
          </a:xfrm>
          <a:prstGeom prst="roundRect">
            <a:avLst>
              <a:gd name="adj" fmla="val 10526"/>
            </a:avLst>
          </a:prstGeom>
          <a:solidFill>
            <a:srgbClr val="A84708"/>
          </a:solidFill>
          <a:ln/>
        </p:spPr>
        <p:txBody>
          <a:bodyPr/>
          <a:lstStyle/>
          <a:p>
            <a:endParaRPr lang="en-US"/>
          </a:p>
        </p:txBody>
      </p:sp>
      <p:sp>
        <p:nvSpPr>
          <p:cNvPr id="19" name="Shape 17"/>
          <p:cNvSpPr/>
          <p:nvPr/>
        </p:nvSpPr>
        <p:spPr>
          <a:xfrm>
            <a:off x="4288536" y="2423160"/>
            <a:ext cx="3520440" cy="411480"/>
          </a:xfrm>
          <a:prstGeom prst="rect">
            <a:avLst/>
          </a:prstGeom>
          <a:solidFill>
            <a:srgbClr val="A84708"/>
          </a:solidFill>
          <a:ln/>
        </p:spPr>
        <p:txBody>
          <a:bodyPr/>
          <a:lstStyle/>
          <a:p>
            <a:endParaRPr lang="en-US"/>
          </a:p>
        </p:txBody>
      </p:sp>
      <p:sp>
        <p:nvSpPr>
          <p:cNvPr id="20" name="Text 18"/>
          <p:cNvSpPr/>
          <p:nvPr/>
        </p:nvSpPr>
        <p:spPr>
          <a:xfrm>
            <a:off x="4517136" y="2057400"/>
            <a:ext cx="3063240" cy="384048"/>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ESNOG</a:t>
            </a:r>
            <a:endParaRPr lang="en-US" sz="1700" dirty="0"/>
          </a:p>
        </p:txBody>
      </p:sp>
      <p:sp>
        <p:nvSpPr>
          <p:cNvPr id="21" name="Text 19"/>
          <p:cNvSpPr/>
          <p:nvPr/>
        </p:nvSpPr>
        <p:spPr>
          <a:xfrm>
            <a:off x="4517136" y="2468880"/>
            <a:ext cx="3063240" cy="320040"/>
          </a:xfrm>
          <a:prstGeom prst="rect">
            <a:avLst/>
          </a:prstGeom>
          <a:noFill/>
          <a:ln/>
        </p:spPr>
        <p:txBody>
          <a:bodyPr wrap="square" rtlCol="0" anchor="ctr"/>
          <a:lstStyle/>
          <a:p>
            <a:pPr marL="0" indent="0">
              <a:buNone/>
            </a:pPr>
            <a:r>
              <a:rPr lang="en-US" sz="1050" i="1" dirty="0">
                <a:solidFill>
                  <a:srgbClr val="F3D4BC"/>
                </a:solidFill>
                <a:latin typeface="Calibri" pitchFamily="34" charset="0"/>
                <a:ea typeface="Calibri" pitchFamily="34" charset="-122"/>
                <a:cs typeface="Calibri" pitchFamily="34" charset="-120"/>
              </a:rPr>
              <a:t>Spain — biannual since the 2000s</a:t>
            </a:r>
            <a:endParaRPr lang="en-US" sz="1050" dirty="0"/>
          </a:p>
        </p:txBody>
      </p:sp>
      <p:sp>
        <p:nvSpPr>
          <p:cNvPr id="22" name="Shape 20"/>
          <p:cNvSpPr/>
          <p:nvPr/>
        </p:nvSpPr>
        <p:spPr>
          <a:xfrm>
            <a:off x="4517136" y="3081528"/>
            <a:ext cx="73152" cy="73152"/>
          </a:xfrm>
          <a:prstGeom prst="ellipse">
            <a:avLst/>
          </a:prstGeom>
          <a:solidFill>
            <a:srgbClr val="D9600B"/>
          </a:solidFill>
          <a:ln/>
        </p:spPr>
        <p:txBody>
          <a:bodyPr/>
          <a:lstStyle/>
          <a:p>
            <a:endParaRPr lang="en-US"/>
          </a:p>
        </p:txBody>
      </p:sp>
      <p:sp>
        <p:nvSpPr>
          <p:cNvPr id="23" name="Text 21"/>
          <p:cNvSpPr/>
          <p:nvPr/>
        </p:nvSpPr>
        <p:spPr>
          <a:xfrm>
            <a:off x="4709160" y="2960296"/>
            <a:ext cx="2880360" cy="685800"/>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Nationwide forum for ISPs, network engineers &amp; operators — broader Internet-infrastructure focus, not automation-only</a:t>
            </a:r>
            <a:endParaRPr lang="en-US" sz="1080" dirty="0"/>
          </a:p>
        </p:txBody>
      </p:sp>
      <p:sp>
        <p:nvSpPr>
          <p:cNvPr id="24" name="Shape 22"/>
          <p:cNvSpPr/>
          <p:nvPr/>
        </p:nvSpPr>
        <p:spPr>
          <a:xfrm>
            <a:off x="4517136" y="3913632"/>
            <a:ext cx="73152" cy="73152"/>
          </a:xfrm>
          <a:prstGeom prst="ellipse">
            <a:avLst/>
          </a:prstGeom>
          <a:solidFill>
            <a:srgbClr val="D9600B"/>
          </a:solidFill>
          <a:ln/>
        </p:spPr>
        <p:txBody>
          <a:bodyPr/>
          <a:lstStyle/>
          <a:p>
            <a:endParaRPr lang="en-US"/>
          </a:p>
        </p:txBody>
      </p:sp>
      <p:sp>
        <p:nvSpPr>
          <p:cNvPr id="25" name="Text 23"/>
          <p:cNvSpPr/>
          <p:nvPr/>
        </p:nvSpPr>
        <p:spPr>
          <a:xfrm>
            <a:off x="4700016" y="3703320"/>
            <a:ext cx="2880360" cy="685800"/>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Free, open meetings rotating across Spanish cities (Madrid, Barcelona, Bilbao...)</a:t>
            </a:r>
            <a:endParaRPr lang="en-US" sz="1080" dirty="0"/>
          </a:p>
        </p:txBody>
      </p:sp>
      <p:sp>
        <p:nvSpPr>
          <p:cNvPr id="26" name="Shape 24"/>
          <p:cNvSpPr/>
          <p:nvPr/>
        </p:nvSpPr>
        <p:spPr>
          <a:xfrm>
            <a:off x="4517136" y="4745736"/>
            <a:ext cx="73152" cy="73152"/>
          </a:xfrm>
          <a:prstGeom prst="ellipse">
            <a:avLst/>
          </a:prstGeom>
          <a:solidFill>
            <a:srgbClr val="D9600B"/>
          </a:solidFill>
          <a:ln/>
        </p:spPr>
        <p:txBody>
          <a:bodyPr/>
          <a:lstStyle/>
          <a:p>
            <a:endParaRPr lang="en-US"/>
          </a:p>
        </p:txBody>
      </p:sp>
      <p:sp>
        <p:nvSpPr>
          <p:cNvPr id="27" name="Text 25"/>
          <p:cNvSpPr/>
          <p:nvPr/>
        </p:nvSpPr>
        <p:spPr>
          <a:xfrm>
            <a:off x="4700016" y="4514776"/>
            <a:ext cx="2880360" cy="685800"/>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Registered non-profit association; light sponsor booths that never shape the agenda</a:t>
            </a:r>
            <a:endParaRPr lang="en-US" sz="1080" dirty="0"/>
          </a:p>
        </p:txBody>
      </p:sp>
      <p:sp>
        <p:nvSpPr>
          <p:cNvPr id="28" name="Shape 26"/>
          <p:cNvSpPr/>
          <p:nvPr/>
        </p:nvSpPr>
        <p:spPr>
          <a:xfrm>
            <a:off x="4517136" y="5577840"/>
            <a:ext cx="73152" cy="73152"/>
          </a:xfrm>
          <a:prstGeom prst="ellipse">
            <a:avLst/>
          </a:prstGeom>
          <a:solidFill>
            <a:srgbClr val="D9600B"/>
          </a:solidFill>
          <a:ln/>
        </p:spPr>
        <p:txBody>
          <a:bodyPr/>
          <a:lstStyle/>
          <a:p>
            <a:endParaRPr lang="en-US"/>
          </a:p>
        </p:txBody>
      </p:sp>
      <p:sp>
        <p:nvSpPr>
          <p:cNvPr id="29" name="Text 27"/>
          <p:cNvSpPr/>
          <p:nvPr/>
        </p:nvSpPr>
        <p:spPr>
          <a:xfrm>
            <a:off x="4709160" y="5314876"/>
            <a:ext cx="2880360" cy="685800"/>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35+ editions and counting — proof a grassroots Spanish network community lasts for decades</a:t>
            </a:r>
            <a:endParaRPr lang="en-US" sz="1080" dirty="0"/>
          </a:p>
        </p:txBody>
      </p:sp>
      <p:sp>
        <p:nvSpPr>
          <p:cNvPr id="30" name="Shape 28"/>
          <p:cNvSpPr/>
          <p:nvPr/>
        </p:nvSpPr>
        <p:spPr>
          <a:xfrm>
            <a:off x="8028432" y="1965960"/>
            <a:ext cx="3520440" cy="4434840"/>
          </a:xfrm>
          <a:prstGeom prst="roundRect">
            <a:avLst>
              <a:gd name="adj" fmla="val 2597"/>
            </a:avLst>
          </a:prstGeom>
          <a:solidFill>
            <a:srgbClr val="FFFFFF"/>
          </a:solidFill>
          <a:ln w="9525">
            <a:solidFill>
              <a:srgbClr val="B7C0C3"/>
            </a:solidFill>
            <a:prstDash val="solid"/>
          </a:ln>
          <a:effectLst>
            <a:outerShdw blurRad="76200" dist="25400" dir="5400000" algn="bl" rotWithShape="0">
              <a:srgbClr val="7C8689">
                <a:alpha val="22000"/>
              </a:srgbClr>
            </a:outerShdw>
          </a:effectLst>
        </p:spPr>
        <p:txBody>
          <a:bodyPr/>
          <a:lstStyle/>
          <a:p>
            <a:endParaRPr lang="en-US"/>
          </a:p>
        </p:txBody>
      </p:sp>
      <p:sp>
        <p:nvSpPr>
          <p:cNvPr id="31" name="Shape 29"/>
          <p:cNvSpPr/>
          <p:nvPr/>
        </p:nvSpPr>
        <p:spPr>
          <a:xfrm>
            <a:off x="8028432" y="1965960"/>
            <a:ext cx="3520440" cy="868680"/>
          </a:xfrm>
          <a:prstGeom prst="roundRect">
            <a:avLst>
              <a:gd name="adj" fmla="val 10526"/>
            </a:avLst>
          </a:prstGeom>
          <a:solidFill>
            <a:srgbClr val="272E31"/>
          </a:solidFill>
          <a:ln/>
        </p:spPr>
        <p:txBody>
          <a:bodyPr/>
          <a:lstStyle/>
          <a:p>
            <a:endParaRPr lang="en-US"/>
          </a:p>
        </p:txBody>
      </p:sp>
      <p:sp>
        <p:nvSpPr>
          <p:cNvPr id="32" name="Shape 30"/>
          <p:cNvSpPr/>
          <p:nvPr/>
        </p:nvSpPr>
        <p:spPr>
          <a:xfrm>
            <a:off x="8028432" y="2423160"/>
            <a:ext cx="3520440" cy="411480"/>
          </a:xfrm>
          <a:prstGeom prst="rect">
            <a:avLst/>
          </a:prstGeom>
          <a:solidFill>
            <a:srgbClr val="272E31"/>
          </a:solidFill>
          <a:ln/>
        </p:spPr>
        <p:txBody>
          <a:bodyPr/>
          <a:lstStyle/>
          <a:p>
            <a:endParaRPr lang="en-US"/>
          </a:p>
        </p:txBody>
      </p:sp>
      <p:sp>
        <p:nvSpPr>
          <p:cNvPr id="33" name="Text 31"/>
          <p:cNvSpPr/>
          <p:nvPr/>
        </p:nvSpPr>
        <p:spPr>
          <a:xfrm>
            <a:off x="8257032" y="2057400"/>
            <a:ext cx="3063240" cy="384048"/>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NAF / AutoCon</a:t>
            </a:r>
            <a:endParaRPr lang="en-US" sz="1700" dirty="0"/>
          </a:p>
        </p:txBody>
      </p:sp>
      <p:sp>
        <p:nvSpPr>
          <p:cNvPr id="34" name="Text 32"/>
          <p:cNvSpPr/>
          <p:nvPr/>
        </p:nvSpPr>
        <p:spPr>
          <a:xfrm>
            <a:off x="8257032" y="2468880"/>
            <a:ext cx="3063240" cy="320040"/>
          </a:xfrm>
          <a:prstGeom prst="rect">
            <a:avLst/>
          </a:prstGeom>
          <a:noFill/>
          <a:ln/>
        </p:spPr>
        <p:txBody>
          <a:bodyPr wrap="square" rtlCol="0" anchor="ctr"/>
          <a:lstStyle/>
          <a:p>
            <a:pPr marL="0" indent="0">
              <a:buNone/>
            </a:pPr>
            <a:r>
              <a:rPr lang="en-US" sz="1050" i="1" dirty="0">
                <a:solidFill>
                  <a:srgbClr val="B7C0C3"/>
                </a:solidFill>
                <a:latin typeface="Calibri" pitchFamily="34" charset="0"/>
                <a:ea typeface="Calibri" pitchFamily="34" charset="-122"/>
                <a:cs typeface="Calibri" pitchFamily="34" charset="-120"/>
              </a:rPr>
              <a:t>Global — since 2023</a:t>
            </a:r>
            <a:endParaRPr lang="en-US" sz="1050" dirty="0"/>
          </a:p>
        </p:txBody>
      </p:sp>
      <p:sp>
        <p:nvSpPr>
          <p:cNvPr id="35" name="Shape 33"/>
          <p:cNvSpPr/>
          <p:nvPr/>
        </p:nvSpPr>
        <p:spPr>
          <a:xfrm>
            <a:off x="8257032" y="3081528"/>
            <a:ext cx="73152" cy="73152"/>
          </a:xfrm>
          <a:prstGeom prst="ellipse">
            <a:avLst/>
          </a:prstGeom>
          <a:solidFill>
            <a:srgbClr val="D9600B"/>
          </a:solidFill>
          <a:ln/>
        </p:spPr>
        <p:txBody>
          <a:bodyPr/>
          <a:lstStyle/>
          <a:p>
            <a:endParaRPr lang="en-US"/>
          </a:p>
        </p:txBody>
      </p:sp>
      <p:sp>
        <p:nvSpPr>
          <p:cNvPr id="36" name="Text 34"/>
          <p:cNvSpPr/>
          <p:nvPr/>
        </p:nvSpPr>
        <p:spPr>
          <a:xfrm>
            <a:off x="8439912" y="2960296"/>
            <a:ext cx="2880360" cy="685800"/>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Founded by two practitioners (Chris Grundemann &amp; Scott Robohn) who simply decided to "just do it"</a:t>
            </a:r>
            <a:endParaRPr lang="en-US" sz="1080" dirty="0"/>
          </a:p>
        </p:txBody>
      </p:sp>
      <p:sp>
        <p:nvSpPr>
          <p:cNvPr id="37" name="Shape 35"/>
          <p:cNvSpPr/>
          <p:nvPr/>
        </p:nvSpPr>
        <p:spPr>
          <a:xfrm>
            <a:off x="8257032" y="3913632"/>
            <a:ext cx="73152" cy="73152"/>
          </a:xfrm>
          <a:prstGeom prst="ellipse">
            <a:avLst/>
          </a:prstGeom>
          <a:solidFill>
            <a:srgbClr val="D9600B"/>
          </a:solidFill>
          <a:ln/>
        </p:spPr>
        <p:txBody>
          <a:bodyPr/>
          <a:lstStyle/>
          <a:p>
            <a:endParaRPr lang="en-US"/>
          </a:p>
        </p:txBody>
      </p:sp>
      <p:sp>
        <p:nvSpPr>
          <p:cNvPr id="38" name="Text 36"/>
          <p:cNvSpPr/>
          <p:nvPr/>
        </p:nvSpPr>
        <p:spPr>
          <a:xfrm>
            <a:off x="8449056" y="3792400"/>
            <a:ext cx="2880360" cy="384048"/>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Started with one independent event, AutoCon 0, in Denver</a:t>
            </a:r>
            <a:endParaRPr lang="en-US" sz="1080" dirty="0"/>
          </a:p>
        </p:txBody>
      </p:sp>
      <p:sp>
        <p:nvSpPr>
          <p:cNvPr id="39" name="Shape 37"/>
          <p:cNvSpPr/>
          <p:nvPr/>
        </p:nvSpPr>
        <p:spPr>
          <a:xfrm>
            <a:off x="8257032" y="4443984"/>
            <a:ext cx="73152" cy="73152"/>
          </a:xfrm>
          <a:prstGeom prst="ellipse">
            <a:avLst/>
          </a:prstGeom>
          <a:solidFill>
            <a:srgbClr val="D9600B"/>
          </a:solidFill>
          <a:ln/>
        </p:spPr>
        <p:txBody>
          <a:bodyPr/>
          <a:lstStyle/>
          <a:p>
            <a:endParaRPr lang="en-US"/>
          </a:p>
        </p:txBody>
      </p:sp>
      <p:sp>
        <p:nvSpPr>
          <p:cNvPr id="40" name="Text 38"/>
          <p:cNvSpPr/>
          <p:nvPr/>
        </p:nvSpPr>
        <p:spPr>
          <a:xfrm>
            <a:off x="8449056" y="4233672"/>
            <a:ext cx="2880360" cy="685800"/>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Vendor-neutral by design: sponsors fund the room, engineers own the agenda</a:t>
            </a:r>
            <a:endParaRPr lang="en-US" sz="1080" dirty="0"/>
          </a:p>
        </p:txBody>
      </p:sp>
      <p:sp>
        <p:nvSpPr>
          <p:cNvPr id="41" name="Shape 39"/>
          <p:cNvSpPr/>
          <p:nvPr/>
        </p:nvSpPr>
        <p:spPr>
          <a:xfrm>
            <a:off x="8257032" y="5276088"/>
            <a:ext cx="73152" cy="73152"/>
          </a:xfrm>
          <a:prstGeom prst="ellipse">
            <a:avLst/>
          </a:prstGeom>
          <a:solidFill>
            <a:srgbClr val="D9600B"/>
          </a:solidFill>
          <a:ln/>
        </p:spPr>
        <p:txBody>
          <a:bodyPr/>
          <a:lstStyle/>
          <a:p>
            <a:endParaRPr lang="en-US"/>
          </a:p>
        </p:txBody>
      </p:sp>
      <p:sp>
        <p:nvSpPr>
          <p:cNvPr id="42" name="Text 40"/>
          <p:cNvSpPr/>
          <p:nvPr/>
        </p:nvSpPr>
        <p:spPr>
          <a:xfrm>
            <a:off x="8439912" y="5134208"/>
            <a:ext cx="2880360" cy="685800"/>
          </a:xfrm>
          <a:prstGeom prst="rect">
            <a:avLst/>
          </a:prstGeom>
          <a:noFill/>
          <a:ln/>
        </p:spPr>
        <p:txBody>
          <a:bodyPr wrap="square" rtlCol="0" anchor="ctr"/>
          <a:lstStyle/>
          <a:p>
            <a:pPr marL="0" indent="0">
              <a:lnSpc>
                <a:spcPts val="1350"/>
              </a:lnSpc>
              <a:buNone/>
            </a:pPr>
            <a:r>
              <a:rPr lang="en-US" sz="1080" dirty="0">
                <a:solidFill>
                  <a:srgbClr val="24282A"/>
                </a:solidFill>
                <a:latin typeface="Calibri" pitchFamily="34" charset="0"/>
                <a:ea typeface="Calibri" pitchFamily="34" charset="-122"/>
                <a:cs typeface="Calibri" pitchFamily="34" charset="-120"/>
              </a:rPr>
              <a:t>Grew via podcasts, newsletters and partner communities, then merged with NetDevOps Days for reach</a:t>
            </a:r>
            <a:endParaRPr lang="en-US" sz="1080" dirty="0"/>
          </a:p>
        </p:txBody>
      </p:sp>
      <p:sp>
        <p:nvSpPr>
          <p:cNvPr id="43" name="Text 41"/>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7C8689"/>
                </a:solidFill>
                <a:latin typeface="Calibri" pitchFamily="34" charset="0"/>
                <a:ea typeface="Calibri" pitchFamily="34" charset="-122"/>
                <a:cs typeface="Calibri" pitchFamily="34" charset="-120"/>
              </a:rPr>
              <a:t>04</a:t>
            </a:r>
            <a:endParaRPr lang="en-US" sz="1000" dirty="0"/>
          </a:p>
        </p:txBody>
      </p:sp>
      <p:pic>
        <p:nvPicPr>
          <p:cNvPr id="44" name="Picture 43">
            <a:extLst>
              <a:ext uri="{FF2B5EF4-FFF2-40B4-BE49-F238E27FC236}">
                <a16:creationId xmlns:a16="http://schemas.microsoft.com/office/drawing/2014/main" id="{983FF962-522D-1AEB-4964-6128F4C3B8F3}"/>
              </a:ext>
            </a:extLst>
          </p:cNvPr>
          <p:cNvPicPr>
            <a:picLocks noChangeAspect="1"/>
          </p:cNvPicPr>
          <p:nvPr/>
        </p:nvPicPr>
        <p:blipFill>
          <a:blip r:embed="rId3">
            <a:alphaModFix amt="20000"/>
          </a:blip>
          <a:stretch>
            <a:fillRect/>
          </a:stretch>
        </p:blipFill>
        <p:spPr>
          <a:xfrm rot="13521678">
            <a:off x="10581708" y="216126"/>
            <a:ext cx="1860102" cy="9290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D9600B"/>
                </a:solidFill>
                <a:latin typeface="Calibri" pitchFamily="34" charset="0"/>
                <a:ea typeface="Calibri" pitchFamily="34" charset="-122"/>
                <a:cs typeface="Calibri" pitchFamily="34" charset="-120"/>
              </a:rPr>
              <a:t>COMMUNITY DESIGN</a:t>
            </a:r>
            <a:endParaRPr lang="en-US" sz="12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24282A"/>
                </a:solidFill>
                <a:latin typeface="Cambria" pitchFamily="34" charset="0"/>
                <a:ea typeface="Cambria" pitchFamily="34" charset="-122"/>
                <a:cs typeface="Cambria" pitchFamily="34" charset="-120"/>
              </a:rPr>
              <a:t>What a NetMAD session looks like</a:t>
            </a:r>
            <a:endParaRPr lang="en-US" sz="3200" dirty="0"/>
          </a:p>
        </p:txBody>
      </p:sp>
      <p:sp>
        <p:nvSpPr>
          <p:cNvPr id="4" name="Shape 2"/>
          <p:cNvSpPr/>
          <p:nvPr/>
        </p:nvSpPr>
        <p:spPr>
          <a:xfrm>
            <a:off x="548640" y="2011680"/>
            <a:ext cx="3566160" cy="1691640"/>
          </a:xfrm>
          <a:prstGeom prst="roundRect">
            <a:avLst>
              <a:gd name="adj" fmla="val 4324"/>
            </a:avLst>
          </a:prstGeom>
          <a:solidFill>
            <a:srgbClr val="F4F5F5"/>
          </a:solidFill>
          <a:ln w="9525">
            <a:solidFill>
              <a:srgbClr val="B7C0C3"/>
            </a:solidFill>
            <a:prstDash val="solid"/>
          </a:ln>
        </p:spPr>
        <p:txBody>
          <a:bodyPr/>
          <a:lstStyle/>
          <a:p>
            <a:endParaRPr lang="en-US"/>
          </a:p>
        </p:txBody>
      </p:sp>
      <p:sp>
        <p:nvSpPr>
          <p:cNvPr id="5" name="Shape 3"/>
          <p:cNvSpPr/>
          <p:nvPr/>
        </p:nvSpPr>
        <p:spPr>
          <a:xfrm>
            <a:off x="804672" y="2231136"/>
            <a:ext cx="292608" cy="292608"/>
          </a:xfrm>
          <a:prstGeom prst="ellipse">
            <a:avLst/>
          </a:prstGeom>
          <a:solidFill>
            <a:srgbClr val="D9600B"/>
          </a:solidFill>
          <a:ln/>
        </p:spPr>
        <p:txBody>
          <a:bodyPr/>
          <a:lstStyle/>
          <a:p>
            <a:endParaRPr lang="en-US"/>
          </a:p>
        </p:txBody>
      </p:sp>
      <p:sp>
        <p:nvSpPr>
          <p:cNvPr id="6" name="Text 4"/>
          <p:cNvSpPr/>
          <p:nvPr/>
        </p:nvSpPr>
        <p:spPr>
          <a:xfrm>
            <a:off x="1234440" y="2194560"/>
            <a:ext cx="2697480" cy="365760"/>
          </a:xfrm>
          <a:prstGeom prst="rect">
            <a:avLst/>
          </a:prstGeom>
          <a:noFill/>
          <a:ln/>
        </p:spPr>
        <p:txBody>
          <a:bodyPr wrap="square" rtlCol="0" anchor="ctr"/>
          <a:lstStyle/>
          <a:p>
            <a:pPr marL="0" indent="0">
              <a:buNone/>
            </a:pPr>
            <a:r>
              <a:rPr lang="en-US" sz="1250" b="1" kern="0" spc="150" dirty="0">
                <a:solidFill>
                  <a:srgbClr val="A84708"/>
                </a:solidFill>
                <a:latin typeface="Calibri" pitchFamily="34" charset="0"/>
                <a:ea typeface="Calibri" pitchFamily="34" charset="-122"/>
                <a:cs typeface="Calibri" pitchFamily="34" charset="-120"/>
              </a:rPr>
              <a:t>CADENCE</a:t>
            </a:r>
            <a:endParaRPr lang="en-US" sz="1250" dirty="0"/>
          </a:p>
        </p:txBody>
      </p:sp>
      <p:sp>
        <p:nvSpPr>
          <p:cNvPr id="7" name="Text 5"/>
          <p:cNvSpPr/>
          <p:nvPr/>
        </p:nvSpPr>
        <p:spPr>
          <a:xfrm>
            <a:off x="822960" y="2651760"/>
            <a:ext cx="3063240" cy="914400"/>
          </a:xfrm>
          <a:prstGeom prst="rect">
            <a:avLst/>
          </a:prstGeom>
          <a:noFill/>
          <a:ln/>
        </p:spPr>
        <p:txBody>
          <a:bodyPr wrap="square" rtlCol="0" anchor="ctr"/>
          <a:lstStyle/>
          <a:p>
            <a:pPr marL="0" indent="0">
              <a:lnSpc>
                <a:spcPts val="1500"/>
              </a:lnSpc>
              <a:buNone/>
            </a:pPr>
            <a:r>
              <a:rPr lang="en-US" sz="1200" dirty="0">
                <a:solidFill>
                  <a:srgbClr val="24282A"/>
                </a:solidFill>
                <a:latin typeface="Calibri" pitchFamily="34" charset="0"/>
                <a:ea typeface="Calibri" pitchFamily="34" charset="-122"/>
                <a:cs typeface="Calibri" pitchFamily="34" charset="-120"/>
              </a:rPr>
              <a:t>2x year evening meetups (6), plus one bigger "NetMAD Day" annually once the community matures</a:t>
            </a:r>
            <a:endParaRPr lang="en-US" sz="1200" dirty="0"/>
          </a:p>
        </p:txBody>
      </p:sp>
      <p:sp>
        <p:nvSpPr>
          <p:cNvPr id="8" name="Shape 6"/>
          <p:cNvSpPr/>
          <p:nvPr/>
        </p:nvSpPr>
        <p:spPr>
          <a:xfrm>
            <a:off x="4370832" y="2011680"/>
            <a:ext cx="3566160" cy="1691640"/>
          </a:xfrm>
          <a:prstGeom prst="roundRect">
            <a:avLst>
              <a:gd name="adj" fmla="val 4324"/>
            </a:avLst>
          </a:prstGeom>
          <a:solidFill>
            <a:srgbClr val="F4F5F5"/>
          </a:solidFill>
          <a:ln w="9525">
            <a:solidFill>
              <a:srgbClr val="B7C0C3"/>
            </a:solidFill>
            <a:prstDash val="solid"/>
          </a:ln>
        </p:spPr>
        <p:txBody>
          <a:bodyPr/>
          <a:lstStyle/>
          <a:p>
            <a:endParaRPr lang="en-US"/>
          </a:p>
        </p:txBody>
      </p:sp>
      <p:sp>
        <p:nvSpPr>
          <p:cNvPr id="9" name="Shape 7"/>
          <p:cNvSpPr/>
          <p:nvPr/>
        </p:nvSpPr>
        <p:spPr>
          <a:xfrm>
            <a:off x="4626864" y="2231136"/>
            <a:ext cx="292608" cy="292608"/>
          </a:xfrm>
          <a:prstGeom prst="ellipse">
            <a:avLst/>
          </a:prstGeom>
          <a:solidFill>
            <a:srgbClr val="D9600B"/>
          </a:solidFill>
          <a:ln/>
        </p:spPr>
        <p:txBody>
          <a:bodyPr/>
          <a:lstStyle/>
          <a:p>
            <a:endParaRPr lang="en-US"/>
          </a:p>
        </p:txBody>
      </p:sp>
      <p:sp>
        <p:nvSpPr>
          <p:cNvPr id="10" name="Text 8"/>
          <p:cNvSpPr/>
          <p:nvPr/>
        </p:nvSpPr>
        <p:spPr>
          <a:xfrm>
            <a:off x="5056632" y="2194560"/>
            <a:ext cx="2697480" cy="365760"/>
          </a:xfrm>
          <a:prstGeom prst="rect">
            <a:avLst/>
          </a:prstGeom>
          <a:noFill/>
          <a:ln/>
        </p:spPr>
        <p:txBody>
          <a:bodyPr wrap="square" rtlCol="0" anchor="ctr"/>
          <a:lstStyle/>
          <a:p>
            <a:pPr marL="0" indent="0">
              <a:buNone/>
            </a:pPr>
            <a:r>
              <a:rPr lang="en-US" sz="1250" b="1" kern="0" spc="150" dirty="0">
                <a:solidFill>
                  <a:srgbClr val="A84708"/>
                </a:solidFill>
                <a:latin typeface="Calibri" pitchFamily="34" charset="0"/>
                <a:ea typeface="Calibri" pitchFamily="34" charset="-122"/>
                <a:cs typeface="Calibri" pitchFamily="34" charset="-120"/>
              </a:rPr>
              <a:t>FORMAT</a:t>
            </a:r>
            <a:endParaRPr lang="en-US" sz="1250" dirty="0"/>
          </a:p>
        </p:txBody>
      </p:sp>
      <p:sp>
        <p:nvSpPr>
          <p:cNvPr id="11" name="Text 9"/>
          <p:cNvSpPr/>
          <p:nvPr/>
        </p:nvSpPr>
        <p:spPr>
          <a:xfrm>
            <a:off x="4645152" y="2651760"/>
            <a:ext cx="3063240" cy="914400"/>
          </a:xfrm>
          <a:prstGeom prst="rect">
            <a:avLst/>
          </a:prstGeom>
          <a:noFill/>
          <a:ln/>
        </p:spPr>
        <p:txBody>
          <a:bodyPr wrap="square" rtlCol="0" anchor="ctr"/>
          <a:lstStyle/>
          <a:p>
            <a:pPr marL="0" indent="0">
              <a:lnSpc>
                <a:spcPts val="1500"/>
              </a:lnSpc>
              <a:buNone/>
            </a:pPr>
            <a:r>
              <a:rPr lang="en-US" sz="1200" dirty="0">
                <a:solidFill>
                  <a:srgbClr val="24282A"/>
                </a:solidFill>
                <a:latin typeface="Calibri" pitchFamily="34" charset="0"/>
                <a:ea typeface="Calibri" pitchFamily="34" charset="-122"/>
                <a:cs typeface="Calibri" pitchFamily="34" charset="-120"/>
              </a:rPr>
              <a:t>Doors + networking (30m) → 2 practitioner talks (25m each) → lightning talks / panel (20m) → drinks</a:t>
            </a:r>
            <a:endParaRPr lang="en-US" sz="1200" dirty="0"/>
          </a:p>
        </p:txBody>
      </p:sp>
      <p:sp>
        <p:nvSpPr>
          <p:cNvPr id="12" name="Shape 10"/>
          <p:cNvSpPr/>
          <p:nvPr/>
        </p:nvSpPr>
        <p:spPr>
          <a:xfrm>
            <a:off x="8193024" y="2011680"/>
            <a:ext cx="3566160" cy="1691640"/>
          </a:xfrm>
          <a:prstGeom prst="roundRect">
            <a:avLst>
              <a:gd name="adj" fmla="val 4324"/>
            </a:avLst>
          </a:prstGeom>
          <a:solidFill>
            <a:srgbClr val="F4F5F5"/>
          </a:solidFill>
          <a:ln w="9525">
            <a:solidFill>
              <a:srgbClr val="B7C0C3"/>
            </a:solidFill>
            <a:prstDash val="solid"/>
          </a:ln>
        </p:spPr>
        <p:txBody>
          <a:bodyPr/>
          <a:lstStyle/>
          <a:p>
            <a:endParaRPr lang="en-US"/>
          </a:p>
        </p:txBody>
      </p:sp>
      <p:sp>
        <p:nvSpPr>
          <p:cNvPr id="13" name="Shape 11"/>
          <p:cNvSpPr/>
          <p:nvPr/>
        </p:nvSpPr>
        <p:spPr>
          <a:xfrm>
            <a:off x="8449056" y="2231136"/>
            <a:ext cx="292608" cy="292608"/>
          </a:xfrm>
          <a:prstGeom prst="ellipse">
            <a:avLst/>
          </a:prstGeom>
          <a:solidFill>
            <a:srgbClr val="D9600B"/>
          </a:solidFill>
          <a:ln/>
        </p:spPr>
        <p:txBody>
          <a:bodyPr/>
          <a:lstStyle/>
          <a:p>
            <a:endParaRPr lang="en-US"/>
          </a:p>
        </p:txBody>
      </p:sp>
      <p:sp>
        <p:nvSpPr>
          <p:cNvPr id="14" name="Text 12"/>
          <p:cNvSpPr/>
          <p:nvPr/>
        </p:nvSpPr>
        <p:spPr>
          <a:xfrm>
            <a:off x="8878824" y="2194560"/>
            <a:ext cx="2697480" cy="365760"/>
          </a:xfrm>
          <a:prstGeom prst="rect">
            <a:avLst/>
          </a:prstGeom>
          <a:noFill/>
          <a:ln/>
        </p:spPr>
        <p:txBody>
          <a:bodyPr wrap="square" rtlCol="0" anchor="ctr"/>
          <a:lstStyle/>
          <a:p>
            <a:pPr marL="0" indent="0">
              <a:buNone/>
            </a:pPr>
            <a:r>
              <a:rPr lang="en-US" sz="1250" b="1" kern="0" spc="150" dirty="0">
                <a:solidFill>
                  <a:srgbClr val="A84708"/>
                </a:solidFill>
                <a:latin typeface="Calibri" pitchFamily="34" charset="0"/>
                <a:ea typeface="Calibri" pitchFamily="34" charset="-122"/>
                <a:cs typeface="Calibri" pitchFamily="34" charset="-120"/>
              </a:rPr>
              <a:t>VENUE</a:t>
            </a:r>
            <a:endParaRPr lang="en-US" sz="1250" dirty="0"/>
          </a:p>
        </p:txBody>
      </p:sp>
      <p:sp>
        <p:nvSpPr>
          <p:cNvPr id="15" name="Text 13"/>
          <p:cNvSpPr/>
          <p:nvPr/>
        </p:nvSpPr>
        <p:spPr>
          <a:xfrm>
            <a:off x="8467344" y="2651760"/>
            <a:ext cx="3063240" cy="914400"/>
          </a:xfrm>
          <a:prstGeom prst="rect">
            <a:avLst/>
          </a:prstGeom>
          <a:noFill/>
          <a:ln/>
        </p:spPr>
        <p:txBody>
          <a:bodyPr wrap="square" rtlCol="0" anchor="ctr"/>
          <a:lstStyle/>
          <a:p>
            <a:pPr marL="0" indent="0">
              <a:lnSpc>
                <a:spcPts val="1500"/>
              </a:lnSpc>
              <a:buNone/>
            </a:pPr>
            <a:r>
              <a:rPr lang="en-US" sz="1200" dirty="0">
                <a:solidFill>
                  <a:srgbClr val="24282A"/>
                </a:solidFill>
                <a:latin typeface="Calibri" pitchFamily="34" charset="0"/>
                <a:ea typeface="Calibri" pitchFamily="34" charset="-122"/>
                <a:cs typeface="Calibri" pitchFamily="34" charset="-120"/>
              </a:rPr>
              <a:t>Rotating host companies (banks, telcos, cloud providers, universities) donate space — no venue cost in year one</a:t>
            </a:r>
            <a:endParaRPr lang="en-US" sz="1200" dirty="0"/>
          </a:p>
        </p:txBody>
      </p:sp>
      <p:sp>
        <p:nvSpPr>
          <p:cNvPr id="16" name="Shape 14"/>
          <p:cNvSpPr/>
          <p:nvPr/>
        </p:nvSpPr>
        <p:spPr>
          <a:xfrm>
            <a:off x="548640" y="3959352"/>
            <a:ext cx="3566160" cy="1691640"/>
          </a:xfrm>
          <a:prstGeom prst="roundRect">
            <a:avLst>
              <a:gd name="adj" fmla="val 4324"/>
            </a:avLst>
          </a:prstGeom>
          <a:solidFill>
            <a:srgbClr val="F4F5F5"/>
          </a:solidFill>
          <a:ln w="9525">
            <a:solidFill>
              <a:srgbClr val="B7C0C3"/>
            </a:solidFill>
            <a:prstDash val="solid"/>
          </a:ln>
        </p:spPr>
        <p:txBody>
          <a:bodyPr/>
          <a:lstStyle/>
          <a:p>
            <a:endParaRPr lang="en-US"/>
          </a:p>
        </p:txBody>
      </p:sp>
      <p:sp>
        <p:nvSpPr>
          <p:cNvPr id="17" name="Shape 15"/>
          <p:cNvSpPr/>
          <p:nvPr/>
        </p:nvSpPr>
        <p:spPr>
          <a:xfrm>
            <a:off x="804672" y="4178808"/>
            <a:ext cx="292608" cy="292608"/>
          </a:xfrm>
          <a:prstGeom prst="ellipse">
            <a:avLst/>
          </a:prstGeom>
          <a:solidFill>
            <a:srgbClr val="D9600B"/>
          </a:solidFill>
          <a:ln/>
        </p:spPr>
        <p:txBody>
          <a:bodyPr/>
          <a:lstStyle/>
          <a:p>
            <a:endParaRPr lang="en-US"/>
          </a:p>
        </p:txBody>
      </p:sp>
      <p:sp>
        <p:nvSpPr>
          <p:cNvPr id="18" name="Text 16"/>
          <p:cNvSpPr/>
          <p:nvPr/>
        </p:nvSpPr>
        <p:spPr>
          <a:xfrm>
            <a:off x="1234440" y="4142232"/>
            <a:ext cx="2697480" cy="365760"/>
          </a:xfrm>
          <a:prstGeom prst="rect">
            <a:avLst/>
          </a:prstGeom>
          <a:noFill/>
          <a:ln/>
        </p:spPr>
        <p:txBody>
          <a:bodyPr wrap="square" rtlCol="0" anchor="ctr"/>
          <a:lstStyle/>
          <a:p>
            <a:pPr marL="0" indent="0">
              <a:buNone/>
            </a:pPr>
            <a:r>
              <a:rPr lang="en-US" sz="1250" b="1" kern="0" spc="150" dirty="0">
                <a:solidFill>
                  <a:srgbClr val="A84708"/>
                </a:solidFill>
                <a:latin typeface="Calibri" pitchFamily="34" charset="0"/>
                <a:ea typeface="Calibri" pitchFamily="34" charset="-122"/>
                <a:cs typeface="Calibri" pitchFamily="34" charset="-120"/>
              </a:rPr>
              <a:t>CONTENT</a:t>
            </a:r>
            <a:endParaRPr lang="en-US" sz="1250" dirty="0"/>
          </a:p>
        </p:txBody>
      </p:sp>
      <p:sp>
        <p:nvSpPr>
          <p:cNvPr id="19" name="Text 17"/>
          <p:cNvSpPr/>
          <p:nvPr/>
        </p:nvSpPr>
        <p:spPr>
          <a:xfrm>
            <a:off x="822960" y="4599432"/>
            <a:ext cx="3063240" cy="914400"/>
          </a:xfrm>
          <a:prstGeom prst="rect">
            <a:avLst/>
          </a:prstGeom>
          <a:noFill/>
          <a:ln/>
        </p:spPr>
        <p:txBody>
          <a:bodyPr wrap="square" rtlCol="0" anchor="ctr"/>
          <a:lstStyle/>
          <a:p>
            <a:pPr marL="0" indent="0">
              <a:lnSpc>
                <a:spcPts val="1500"/>
              </a:lnSpc>
              <a:buNone/>
            </a:pPr>
            <a:r>
              <a:rPr lang="en-US" sz="1200" dirty="0">
                <a:solidFill>
                  <a:srgbClr val="24282A"/>
                </a:solidFill>
                <a:latin typeface="Calibri" pitchFamily="34" charset="0"/>
                <a:ea typeface="Calibri" pitchFamily="34" charset="-122"/>
                <a:cs typeface="Calibri" pitchFamily="34" charset="-120"/>
              </a:rPr>
              <a:t>Python/Ansible/NetDevOps, source-of-truth tools, observability, AI-assisted ops, real war stories</a:t>
            </a:r>
            <a:endParaRPr lang="en-US" sz="1200" dirty="0"/>
          </a:p>
        </p:txBody>
      </p:sp>
      <p:sp>
        <p:nvSpPr>
          <p:cNvPr id="20" name="Shape 18"/>
          <p:cNvSpPr/>
          <p:nvPr/>
        </p:nvSpPr>
        <p:spPr>
          <a:xfrm>
            <a:off x="4370832" y="3959352"/>
            <a:ext cx="3566160" cy="1691640"/>
          </a:xfrm>
          <a:prstGeom prst="roundRect">
            <a:avLst>
              <a:gd name="adj" fmla="val 4324"/>
            </a:avLst>
          </a:prstGeom>
          <a:solidFill>
            <a:srgbClr val="F4F5F5"/>
          </a:solidFill>
          <a:ln w="9525">
            <a:solidFill>
              <a:srgbClr val="B7C0C3"/>
            </a:solidFill>
            <a:prstDash val="solid"/>
          </a:ln>
        </p:spPr>
        <p:txBody>
          <a:bodyPr/>
          <a:lstStyle/>
          <a:p>
            <a:endParaRPr lang="en-US"/>
          </a:p>
        </p:txBody>
      </p:sp>
      <p:sp>
        <p:nvSpPr>
          <p:cNvPr id="21" name="Shape 19"/>
          <p:cNvSpPr/>
          <p:nvPr/>
        </p:nvSpPr>
        <p:spPr>
          <a:xfrm>
            <a:off x="4626864" y="4178808"/>
            <a:ext cx="292608" cy="292608"/>
          </a:xfrm>
          <a:prstGeom prst="ellipse">
            <a:avLst/>
          </a:prstGeom>
          <a:solidFill>
            <a:srgbClr val="D9600B"/>
          </a:solidFill>
          <a:ln/>
        </p:spPr>
        <p:txBody>
          <a:bodyPr/>
          <a:lstStyle/>
          <a:p>
            <a:endParaRPr lang="en-US"/>
          </a:p>
        </p:txBody>
      </p:sp>
      <p:sp>
        <p:nvSpPr>
          <p:cNvPr id="22" name="Text 20"/>
          <p:cNvSpPr/>
          <p:nvPr/>
        </p:nvSpPr>
        <p:spPr>
          <a:xfrm>
            <a:off x="5056632" y="4142232"/>
            <a:ext cx="2697480" cy="365760"/>
          </a:xfrm>
          <a:prstGeom prst="rect">
            <a:avLst/>
          </a:prstGeom>
          <a:noFill/>
          <a:ln/>
        </p:spPr>
        <p:txBody>
          <a:bodyPr wrap="square" rtlCol="0" anchor="ctr"/>
          <a:lstStyle/>
          <a:p>
            <a:pPr marL="0" indent="0">
              <a:buNone/>
            </a:pPr>
            <a:r>
              <a:rPr lang="en-US" sz="1250" b="1" kern="0" spc="150" dirty="0">
                <a:solidFill>
                  <a:srgbClr val="A84708"/>
                </a:solidFill>
                <a:latin typeface="Calibri" pitchFamily="34" charset="0"/>
                <a:ea typeface="Calibri" pitchFamily="34" charset="-122"/>
                <a:cs typeface="Calibri" pitchFamily="34" charset="-120"/>
              </a:rPr>
              <a:t>AUDIENCE</a:t>
            </a:r>
            <a:endParaRPr lang="en-US" sz="1250" dirty="0"/>
          </a:p>
        </p:txBody>
      </p:sp>
      <p:sp>
        <p:nvSpPr>
          <p:cNvPr id="23" name="Text 21"/>
          <p:cNvSpPr/>
          <p:nvPr/>
        </p:nvSpPr>
        <p:spPr>
          <a:xfrm>
            <a:off x="4645152" y="4599432"/>
            <a:ext cx="3063240" cy="914400"/>
          </a:xfrm>
          <a:prstGeom prst="rect">
            <a:avLst/>
          </a:prstGeom>
          <a:noFill/>
          <a:ln/>
        </p:spPr>
        <p:txBody>
          <a:bodyPr wrap="square" rtlCol="0" anchor="ctr"/>
          <a:lstStyle/>
          <a:p>
            <a:pPr marL="0" indent="0">
              <a:lnSpc>
                <a:spcPts val="1500"/>
              </a:lnSpc>
              <a:buNone/>
            </a:pPr>
            <a:r>
              <a:rPr lang="en-US" sz="1200" dirty="0">
                <a:solidFill>
                  <a:srgbClr val="24282A"/>
                </a:solidFill>
                <a:latin typeface="Calibri" pitchFamily="34" charset="0"/>
                <a:ea typeface="Calibri" pitchFamily="34" charset="-122"/>
                <a:cs typeface="Calibri" pitchFamily="34" charset="-120"/>
              </a:rPr>
              <a:t>Network engineers, SREs, and platform teams from telcos, ISPs, banks, cloud-native companies and technical students.</a:t>
            </a:r>
            <a:endParaRPr lang="en-US" sz="1200" dirty="0"/>
          </a:p>
        </p:txBody>
      </p:sp>
      <p:sp>
        <p:nvSpPr>
          <p:cNvPr id="24" name="Shape 22"/>
          <p:cNvSpPr/>
          <p:nvPr/>
        </p:nvSpPr>
        <p:spPr>
          <a:xfrm>
            <a:off x="8193024" y="3959352"/>
            <a:ext cx="3566160" cy="1691640"/>
          </a:xfrm>
          <a:prstGeom prst="roundRect">
            <a:avLst>
              <a:gd name="adj" fmla="val 4324"/>
            </a:avLst>
          </a:prstGeom>
          <a:solidFill>
            <a:srgbClr val="F4F5F5"/>
          </a:solidFill>
          <a:ln w="9525">
            <a:solidFill>
              <a:srgbClr val="B7C0C3"/>
            </a:solidFill>
            <a:prstDash val="solid"/>
          </a:ln>
        </p:spPr>
        <p:txBody>
          <a:bodyPr/>
          <a:lstStyle/>
          <a:p>
            <a:endParaRPr lang="en-US"/>
          </a:p>
        </p:txBody>
      </p:sp>
      <p:sp>
        <p:nvSpPr>
          <p:cNvPr id="25" name="Shape 23"/>
          <p:cNvSpPr/>
          <p:nvPr/>
        </p:nvSpPr>
        <p:spPr>
          <a:xfrm>
            <a:off x="8449056" y="4178808"/>
            <a:ext cx="292608" cy="292608"/>
          </a:xfrm>
          <a:prstGeom prst="ellipse">
            <a:avLst/>
          </a:prstGeom>
          <a:solidFill>
            <a:srgbClr val="D9600B"/>
          </a:solidFill>
          <a:ln/>
        </p:spPr>
        <p:txBody>
          <a:bodyPr/>
          <a:lstStyle/>
          <a:p>
            <a:endParaRPr lang="en-US"/>
          </a:p>
        </p:txBody>
      </p:sp>
      <p:sp>
        <p:nvSpPr>
          <p:cNvPr id="26" name="Text 24"/>
          <p:cNvSpPr/>
          <p:nvPr/>
        </p:nvSpPr>
        <p:spPr>
          <a:xfrm>
            <a:off x="8878824" y="4142232"/>
            <a:ext cx="2697480" cy="365760"/>
          </a:xfrm>
          <a:prstGeom prst="rect">
            <a:avLst/>
          </a:prstGeom>
          <a:noFill/>
          <a:ln/>
        </p:spPr>
        <p:txBody>
          <a:bodyPr wrap="square" rtlCol="0" anchor="ctr"/>
          <a:lstStyle/>
          <a:p>
            <a:pPr marL="0" indent="0">
              <a:buNone/>
            </a:pPr>
            <a:r>
              <a:rPr lang="en-US" sz="1250" b="1" kern="0" spc="150" dirty="0">
                <a:solidFill>
                  <a:srgbClr val="A84708"/>
                </a:solidFill>
                <a:latin typeface="Calibri" pitchFamily="34" charset="0"/>
                <a:ea typeface="Calibri" pitchFamily="34" charset="-122"/>
                <a:cs typeface="Calibri" pitchFamily="34" charset="-120"/>
              </a:rPr>
              <a:t>CHANNELS</a:t>
            </a:r>
            <a:endParaRPr lang="en-US" sz="1250" dirty="0"/>
          </a:p>
        </p:txBody>
      </p:sp>
      <p:sp>
        <p:nvSpPr>
          <p:cNvPr id="27" name="Text 25"/>
          <p:cNvSpPr/>
          <p:nvPr/>
        </p:nvSpPr>
        <p:spPr>
          <a:xfrm>
            <a:off x="8467344" y="4599432"/>
            <a:ext cx="3063240" cy="914400"/>
          </a:xfrm>
          <a:prstGeom prst="rect">
            <a:avLst/>
          </a:prstGeom>
          <a:noFill/>
          <a:ln/>
        </p:spPr>
        <p:txBody>
          <a:bodyPr wrap="square" rtlCol="0" anchor="ctr"/>
          <a:lstStyle/>
          <a:p>
            <a:pPr marL="0" indent="0">
              <a:lnSpc>
                <a:spcPts val="1500"/>
              </a:lnSpc>
              <a:buNone/>
            </a:pPr>
            <a:r>
              <a:rPr lang="en-US" sz="1200" dirty="0">
                <a:solidFill>
                  <a:srgbClr val="24282A"/>
                </a:solidFill>
                <a:latin typeface="Calibri" pitchFamily="34" charset="0"/>
                <a:ea typeface="Calibri" pitchFamily="34" charset="-122"/>
                <a:cs typeface="Calibri" pitchFamily="34" charset="-120"/>
              </a:rPr>
              <a:t>Discord workspace, LinkedIn page, and a lightweight site/Meetup page for RSVPs, GitHub and recordings</a:t>
            </a:r>
            <a:endParaRPr lang="en-US" sz="1200" dirty="0"/>
          </a:p>
        </p:txBody>
      </p:sp>
      <p:sp>
        <p:nvSpPr>
          <p:cNvPr id="28" name="Text 26"/>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7C8689"/>
                </a:solidFill>
                <a:latin typeface="Calibri" pitchFamily="34" charset="0"/>
                <a:ea typeface="Calibri" pitchFamily="34" charset="-122"/>
                <a:cs typeface="Calibri" pitchFamily="34" charset="-120"/>
              </a:rPr>
              <a:t>05</a:t>
            </a:r>
            <a:endParaRPr lang="en-US" sz="1000" dirty="0"/>
          </a:p>
        </p:txBody>
      </p:sp>
      <p:pic>
        <p:nvPicPr>
          <p:cNvPr id="29" name="Picture 28">
            <a:extLst>
              <a:ext uri="{FF2B5EF4-FFF2-40B4-BE49-F238E27FC236}">
                <a16:creationId xmlns:a16="http://schemas.microsoft.com/office/drawing/2014/main" id="{945FDCE4-4C51-0641-FB2D-E0EEA94EEED2}"/>
              </a:ext>
            </a:extLst>
          </p:cNvPr>
          <p:cNvPicPr>
            <a:picLocks noChangeAspect="1"/>
          </p:cNvPicPr>
          <p:nvPr/>
        </p:nvPicPr>
        <p:blipFill>
          <a:blip r:embed="rId3">
            <a:alphaModFix amt="20000"/>
          </a:blip>
          <a:stretch>
            <a:fillRect/>
          </a:stretch>
        </p:blipFill>
        <p:spPr>
          <a:xfrm rot="13521678">
            <a:off x="10581708" y="216126"/>
            <a:ext cx="1860102" cy="9290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5"/>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D9600B"/>
                </a:solidFill>
                <a:latin typeface="Calibri" pitchFamily="34" charset="0"/>
                <a:ea typeface="Calibri" pitchFamily="34" charset="-122"/>
                <a:cs typeface="Calibri" pitchFamily="34" charset="-120"/>
              </a:rPr>
              <a:t>GETTING STARTED</a:t>
            </a:r>
            <a:endParaRPr lang="en-US" sz="12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24282A"/>
                </a:solidFill>
                <a:latin typeface="Cambria" pitchFamily="34" charset="0"/>
                <a:ea typeface="Cambria" pitchFamily="34" charset="-122"/>
                <a:cs typeface="Cambria" pitchFamily="34" charset="-120"/>
              </a:rPr>
              <a:t>Four steps to launch</a:t>
            </a:r>
            <a:endParaRPr lang="en-US" sz="3200" dirty="0"/>
          </a:p>
        </p:txBody>
      </p:sp>
      <p:sp>
        <p:nvSpPr>
          <p:cNvPr id="4" name="Shape 2"/>
          <p:cNvSpPr/>
          <p:nvPr/>
        </p:nvSpPr>
        <p:spPr>
          <a:xfrm>
            <a:off x="548640" y="2057400"/>
            <a:ext cx="2606040" cy="4160520"/>
          </a:xfrm>
          <a:prstGeom prst="roundRect">
            <a:avLst>
              <a:gd name="adj" fmla="val 3509"/>
            </a:avLst>
          </a:prstGeom>
          <a:solidFill>
            <a:srgbClr val="FFFFFF"/>
          </a:solidFill>
          <a:ln w="9525">
            <a:solidFill>
              <a:srgbClr val="B7C0C3"/>
            </a:solidFill>
            <a:prstDash val="solid"/>
          </a:ln>
          <a:effectLst>
            <a:outerShdw blurRad="63500" dist="25400" dir="5400000" algn="bl" rotWithShape="0">
              <a:srgbClr val="7C8689">
                <a:alpha val="20000"/>
              </a:srgbClr>
            </a:outerShdw>
          </a:effectLst>
        </p:spPr>
        <p:txBody>
          <a:bodyPr/>
          <a:lstStyle/>
          <a:p>
            <a:endParaRPr lang="en-US"/>
          </a:p>
        </p:txBody>
      </p:sp>
      <p:sp>
        <p:nvSpPr>
          <p:cNvPr id="5" name="Text 3"/>
          <p:cNvSpPr/>
          <p:nvPr/>
        </p:nvSpPr>
        <p:spPr>
          <a:xfrm>
            <a:off x="731520" y="2240280"/>
            <a:ext cx="1463040" cy="731520"/>
          </a:xfrm>
          <a:prstGeom prst="rect">
            <a:avLst/>
          </a:prstGeom>
          <a:noFill/>
          <a:ln/>
        </p:spPr>
        <p:txBody>
          <a:bodyPr wrap="square" rtlCol="0" anchor="ctr"/>
          <a:lstStyle/>
          <a:p>
            <a:pPr marL="0" indent="0">
              <a:buNone/>
            </a:pPr>
            <a:r>
              <a:rPr lang="en-US" sz="3400" b="1" dirty="0">
                <a:solidFill>
                  <a:srgbClr val="B7C0C3"/>
                </a:solidFill>
                <a:latin typeface="Cambria" pitchFamily="34" charset="0"/>
                <a:ea typeface="Cambria" pitchFamily="34" charset="-122"/>
                <a:cs typeface="Cambria" pitchFamily="34" charset="-120"/>
              </a:rPr>
              <a:t>01</a:t>
            </a:r>
            <a:endParaRPr lang="en-US" sz="3400" dirty="0"/>
          </a:p>
        </p:txBody>
      </p:sp>
      <p:sp>
        <p:nvSpPr>
          <p:cNvPr id="6" name="Shape 4"/>
          <p:cNvSpPr/>
          <p:nvPr/>
        </p:nvSpPr>
        <p:spPr>
          <a:xfrm>
            <a:off x="731520" y="3017520"/>
            <a:ext cx="365760" cy="365760"/>
          </a:xfrm>
          <a:prstGeom prst="ellipse">
            <a:avLst/>
          </a:prstGeom>
          <a:solidFill>
            <a:srgbClr val="D9600B"/>
          </a:solidFill>
          <a:ln/>
        </p:spPr>
        <p:txBody>
          <a:bodyPr/>
          <a:lstStyle/>
          <a:p>
            <a:endParaRPr lang="en-US"/>
          </a:p>
        </p:txBody>
      </p:sp>
      <p:sp>
        <p:nvSpPr>
          <p:cNvPr id="7" name="Shape 5"/>
          <p:cNvSpPr/>
          <p:nvPr/>
        </p:nvSpPr>
        <p:spPr>
          <a:xfrm>
            <a:off x="3154680" y="3200400"/>
            <a:ext cx="228600" cy="0"/>
          </a:xfrm>
          <a:prstGeom prst="line">
            <a:avLst/>
          </a:prstGeom>
          <a:noFill/>
          <a:ln w="19050">
            <a:solidFill>
              <a:srgbClr val="D9600B"/>
            </a:solidFill>
            <a:prstDash val="dash"/>
          </a:ln>
        </p:spPr>
        <p:txBody>
          <a:bodyPr/>
          <a:lstStyle/>
          <a:p>
            <a:endParaRPr lang="en-US"/>
          </a:p>
        </p:txBody>
      </p:sp>
      <p:sp>
        <p:nvSpPr>
          <p:cNvPr id="8" name="Text 6"/>
          <p:cNvSpPr/>
          <p:nvPr/>
        </p:nvSpPr>
        <p:spPr>
          <a:xfrm>
            <a:off x="731520" y="3566160"/>
            <a:ext cx="2240280" cy="685800"/>
          </a:xfrm>
          <a:prstGeom prst="rect">
            <a:avLst/>
          </a:prstGeom>
          <a:noFill/>
          <a:ln/>
        </p:spPr>
        <p:txBody>
          <a:bodyPr wrap="square" rtlCol="0" anchor="ctr"/>
          <a:lstStyle/>
          <a:p>
            <a:pPr marL="0" indent="0">
              <a:lnSpc>
                <a:spcPts val="1700"/>
              </a:lnSpc>
              <a:buNone/>
            </a:pPr>
            <a:r>
              <a:rPr lang="en-US" sz="1500" b="1" dirty="0">
                <a:solidFill>
                  <a:srgbClr val="24282A"/>
                </a:solidFill>
                <a:latin typeface="Cambria" pitchFamily="34" charset="0"/>
                <a:ea typeface="Cambria" pitchFamily="34" charset="-122"/>
                <a:cs typeface="Cambria" pitchFamily="34" charset="-120"/>
              </a:rPr>
              <a:t>Found the core team</a:t>
            </a:r>
            <a:endParaRPr lang="en-US" sz="1500" dirty="0"/>
          </a:p>
        </p:txBody>
      </p:sp>
      <p:sp>
        <p:nvSpPr>
          <p:cNvPr id="9" name="Text 7"/>
          <p:cNvSpPr/>
          <p:nvPr/>
        </p:nvSpPr>
        <p:spPr>
          <a:xfrm>
            <a:off x="731520" y="4297680"/>
            <a:ext cx="2240280" cy="1828800"/>
          </a:xfrm>
          <a:prstGeom prst="rect">
            <a:avLst/>
          </a:prstGeom>
          <a:noFill/>
          <a:ln/>
        </p:spPr>
        <p:txBody>
          <a:bodyPr wrap="square" rtlCol="0" anchor="ctr"/>
          <a:lstStyle/>
          <a:p>
            <a:pPr marL="0" indent="0">
              <a:lnSpc>
                <a:spcPts val="1500"/>
              </a:lnSpc>
              <a:buNone/>
            </a:pPr>
            <a:r>
              <a:rPr lang="en-US" sz="1150" dirty="0">
                <a:solidFill>
                  <a:srgbClr val="565D60"/>
                </a:solidFill>
                <a:latin typeface="Calibri" pitchFamily="34" charset="0"/>
                <a:ea typeface="Calibri" pitchFamily="34" charset="-122"/>
                <a:cs typeface="Calibri" pitchFamily="34" charset="-120"/>
              </a:rPr>
              <a:t>Recruit 3–5 co-organizers from Madrid's automation-minded engineers — split roles: content, sponsors, logistics, comms.</a:t>
            </a:r>
            <a:endParaRPr lang="en-US" sz="1150" dirty="0"/>
          </a:p>
        </p:txBody>
      </p:sp>
      <p:sp>
        <p:nvSpPr>
          <p:cNvPr id="10" name="Shape 8"/>
          <p:cNvSpPr/>
          <p:nvPr/>
        </p:nvSpPr>
        <p:spPr>
          <a:xfrm>
            <a:off x="3383280" y="2057400"/>
            <a:ext cx="2606040" cy="4160520"/>
          </a:xfrm>
          <a:prstGeom prst="roundRect">
            <a:avLst>
              <a:gd name="adj" fmla="val 3509"/>
            </a:avLst>
          </a:prstGeom>
          <a:solidFill>
            <a:srgbClr val="FFFFFF"/>
          </a:solidFill>
          <a:ln w="9525">
            <a:solidFill>
              <a:srgbClr val="B7C0C3"/>
            </a:solidFill>
            <a:prstDash val="solid"/>
          </a:ln>
          <a:effectLst>
            <a:outerShdw blurRad="63500" dist="25400" dir="5400000" algn="bl" rotWithShape="0">
              <a:srgbClr val="7C8689">
                <a:alpha val="20000"/>
              </a:srgbClr>
            </a:outerShdw>
          </a:effectLst>
        </p:spPr>
        <p:txBody>
          <a:bodyPr/>
          <a:lstStyle/>
          <a:p>
            <a:endParaRPr lang="en-US"/>
          </a:p>
        </p:txBody>
      </p:sp>
      <p:sp>
        <p:nvSpPr>
          <p:cNvPr id="11" name="Text 9"/>
          <p:cNvSpPr/>
          <p:nvPr/>
        </p:nvSpPr>
        <p:spPr>
          <a:xfrm>
            <a:off x="3566160" y="2240280"/>
            <a:ext cx="1463040" cy="731520"/>
          </a:xfrm>
          <a:prstGeom prst="rect">
            <a:avLst/>
          </a:prstGeom>
          <a:noFill/>
          <a:ln/>
        </p:spPr>
        <p:txBody>
          <a:bodyPr wrap="square" rtlCol="0" anchor="ctr"/>
          <a:lstStyle/>
          <a:p>
            <a:pPr marL="0" indent="0">
              <a:buNone/>
            </a:pPr>
            <a:r>
              <a:rPr lang="en-US" sz="3400" b="1" dirty="0">
                <a:solidFill>
                  <a:srgbClr val="B7C0C3"/>
                </a:solidFill>
                <a:latin typeface="Cambria" pitchFamily="34" charset="0"/>
                <a:ea typeface="Cambria" pitchFamily="34" charset="-122"/>
                <a:cs typeface="Cambria" pitchFamily="34" charset="-120"/>
              </a:rPr>
              <a:t>02</a:t>
            </a:r>
            <a:endParaRPr lang="en-US" sz="3400" dirty="0"/>
          </a:p>
        </p:txBody>
      </p:sp>
      <p:sp>
        <p:nvSpPr>
          <p:cNvPr id="12" name="Shape 10"/>
          <p:cNvSpPr/>
          <p:nvPr/>
        </p:nvSpPr>
        <p:spPr>
          <a:xfrm>
            <a:off x="3566160" y="3017520"/>
            <a:ext cx="365760" cy="365760"/>
          </a:xfrm>
          <a:prstGeom prst="ellipse">
            <a:avLst/>
          </a:prstGeom>
          <a:solidFill>
            <a:srgbClr val="D9600B"/>
          </a:solidFill>
          <a:ln/>
        </p:spPr>
        <p:txBody>
          <a:bodyPr/>
          <a:lstStyle/>
          <a:p>
            <a:endParaRPr lang="en-US"/>
          </a:p>
        </p:txBody>
      </p:sp>
      <p:sp>
        <p:nvSpPr>
          <p:cNvPr id="13" name="Shape 11"/>
          <p:cNvSpPr/>
          <p:nvPr/>
        </p:nvSpPr>
        <p:spPr>
          <a:xfrm>
            <a:off x="5989320" y="3200400"/>
            <a:ext cx="228600" cy="0"/>
          </a:xfrm>
          <a:prstGeom prst="line">
            <a:avLst/>
          </a:prstGeom>
          <a:noFill/>
          <a:ln w="19050">
            <a:solidFill>
              <a:srgbClr val="D9600B"/>
            </a:solidFill>
            <a:prstDash val="dash"/>
          </a:ln>
        </p:spPr>
        <p:txBody>
          <a:bodyPr/>
          <a:lstStyle/>
          <a:p>
            <a:endParaRPr lang="en-US"/>
          </a:p>
        </p:txBody>
      </p:sp>
      <p:sp>
        <p:nvSpPr>
          <p:cNvPr id="14" name="Text 12"/>
          <p:cNvSpPr/>
          <p:nvPr/>
        </p:nvSpPr>
        <p:spPr>
          <a:xfrm>
            <a:off x="3566160" y="3566160"/>
            <a:ext cx="2240280" cy="685800"/>
          </a:xfrm>
          <a:prstGeom prst="rect">
            <a:avLst/>
          </a:prstGeom>
          <a:noFill/>
          <a:ln/>
        </p:spPr>
        <p:txBody>
          <a:bodyPr wrap="square" rtlCol="0" anchor="ctr"/>
          <a:lstStyle/>
          <a:p>
            <a:pPr marL="0" indent="0">
              <a:lnSpc>
                <a:spcPts val="1700"/>
              </a:lnSpc>
              <a:buNone/>
            </a:pPr>
            <a:r>
              <a:rPr lang="en-US" sz="1500" b="1" dirty="0">
                <a:solidFill>
                  <a:srgbClr val="24282A"/>
                </a:solidFill>
                <a:latin typeface="Cambria" pitchFamily="34" charset="0"/>
                <a:ea typeface="Cambria" pitchFamily="34" charset="-122"/>
                <a:cs typeface="Cambria" pitchFamily="34" charset="-120"/>
              </a:rPr>
              <a:t>Build the identity</a:t>
            </a:r>
            <a:endParaRPr lang="en-US" sz="1500" dirty="0"/>
          </a:p>
        </p:txBody>
      </p:sp>
      <p:sp>
        <p:nvSpPr>
          <p:cNvPr id="15" name="Text 13"/>
          <p:cNvSpPr/>
          <p:nvPr/>
        </p:nvSpPr>
        <p:spPr>
          <a:xfrm>
            <a:off x="3566160" y="4297680"/>
            <a:ext cx="2240280" cy="1828800"/>
          </a:xfrm>
          <a:prstGeom prst="rect">
            <a:avLst/>
          </a:prstGeom>
          <a:noFill/>
          <a:ln/>
        </p:spPr>
        <p:txBody>
          <a:bodyPr wrap="square" rtlCol="0" anchor="ctr"/>
          <a:lstStyle/>
          <a:p>
            <a:pPr marL="0" indent="0">
              <a:lnSpc>
                <a:spcPts val="1500"/>
              </a:lnSpc>
              <a:buNone/>
            </a:pPr>
            <a:r>
              <a:rPr lang="en-US" sz="1150" dirty="0">
                <a:solidFill>
                  <a:srgbClr val="565D60"/>
                </a:solidFill>
                <a:latin typeface="Calibri" pitchFamily="34" charset="0"/>
                <a:ea typeface="Calibri" pitchFamily="34" charset="-122"/>
                <a:cs typeface="Calibri" pitchFamily="34" charset="-120"/>
              </a:rPr>
              <a:t>Name, logo, orange &amp; platinum brand kit, one-page manifesto, Discord workspace, LinkedIn page, simple website.</a:t>
            </a:r>
            <a:endParaRPr lang="en-US" sz="1150" dirty="0"/>
          </a:p>
        </p:txBody>
      </p:sp>
      <p:sp>
        <p:nvSpPr>
          <p:cNvPr id="16" name="Shape 14"/>
          <p:cNvSpPr/>
          <p:nvPr/>
        </p:nvSpPr>
        <p:spPr>
          <a:xfrm>
            <a:off x="6217920" y="2057400"/>
            <a:ext cx="2606040" cy="4160520"/>
          </a:xfrm>
          <a:prstGeom prst="roundRect">
            <a:avLst>
              <a:gd name="adj" fmla="val 3509"/>
            </a:avLst>
          </a:prstGeom>
          <a:solidFill>
            <a:srgbClr val="FFFFFF"/>
          </a:solidFill>
          <a:ln w="9525">
            <a:solidFill>
              <a:srgbClr val="B7C0C3"/>
            </a:solidFill>
            <a:prstDash val="solid"/>
          </a:ln>
          <a:effectLst>
            <a:outerShdw blurRad="63500" dist="25400" dir="5400000" algn="bl" rotWithShape="0">
              <a:srgbClr val="7C8689">
                <a:alpha val="20000"/>
              </a:srgbClr>
            </a:outerShdw>
          </a:effectLst>
        </p:spPr>
        <p:txBody>
          <a:bodyPr/>
          <a:lstStyle/>
          <a:p>
            <a:endParaRPr lang="en-US"/>
          </a:p>
        </p:txBody>
      </p:sp>
      <p:sp>
        <p:nvSpPr>
          <p:cNvPr id="17" name="Text 15"/>
          <p:cNvSpPr/>
          <p:nvPr/>
        </p:nvSpPr>
        <p:spPr>
          <a:xfrm>
            <a:off x="6400800" y="2240280"/>
            <a:ext cx="1463040" cy="731520"/>
          </a:xfrm>
          <a:prstGeom prst="rect">
            <a:avLst/>
          </a:prstGeom>
          <a:noFill/>
          <a:ln/>
        </p:spPr>
        <p:txBody>
          <a:bodyPr wrap="square" rtlCol="0" anchor="ctr"/>
          <a:lstStyle/>
          <a:p>
            <a:pPr marL="0" indent="0">
              <a:buNone/>
            </a:pPr>
            <a:r>
              <a:rPr lang="en-US" sz="3400" b="1" dirty="0">
                <a:solidFill>
                  <a:srgbClr val="B7C0C3"/>
                </a:solidFill>
                <a:latin typeface="Cambria" pitchFamily="34" charset="0"/>
                <a:ea typeface="Cambria" pitchFamily="34" charset="-122"/>
                <a:cs typeface="Cambria" pitchFamily="34" charset="-120"/>
              </a:rPr>
              <a:t>03</a:t>
            </a:r>
            <a:endParaRPr lang="en-US" sz="3400" dirty="0"/>
          </a:p>
        </p:txBody>
      </p:sp>
      <p:sp>
        <p:nvSpPr>
          <p:cNvPr id="18" name="Shape 16"/>
          <p:cNvSpPr/>
          <p:nvPr/>
        </p:nvSpPr>
        <p:spPr>
          <a:xfrm>
            <a:off x="6400800" y="3017520"/>
            <a:ext cx="365760" cy="365760"/>
          </a:xfrm>
          <a:prstGeom prst="ellipse">
            <a:avLst/>
          </a:prstGeom>
          <a:solidFill>
            <a:srgbClr val="D9600B"/>
          </a:solidFill>
          <a:ln/>
        </p:spPr>
        <p:txBody>
          <a:bodyPr/>
          <a:lstStyle/>
          <a:p>
            <a:endParaRPr lang="en-US"/>
          </a:p>
        </p:txBody>
      </p:sp>
      <p:sp>
        <p:nvSpPr>
          <p:cNvPr id="19" name="Shape 17"/>
          <p:cNvSpPr/>
          <p:nvPr/>
        </p:nvSpPr>
        <p:spPr>
          <a:xfrm>
            <a:off x="8823960" y="3200400"/>
            <a:ext cx="228600" cy="0"/>
          </a:xfrm>
          <a:prstGeom prst="line">
            <a:avLst/>
          </a:prstGeom>
          <a:noFill/>
          <a:ln w="19050">
            <a:solidFill>
              <a:srgbClr val="D9600B"/>
            </a:solidFill>
            <a:prstDash val="dash"/>
          </a:ln>
        </p:spPr>
        <p:txBody>
          <a:bodyPr/>
          <a:lstStyle/>
          <a:p>
            <a:endParaRPr lang="en-US"/>
          </a:p>
        </p:txBody>
      </p:sp>
      <p:sp>
        <p:nvSpPr>
          <p:cNvPr id="20" name="Text 18"/>
          <p:cNvSpPr/>
          <p:nvPr/>
        </p:nvSpPr>
        <p:spPr>
          <a:xfrm>
            <a:off x="6400800" y="3566160"/>
            <a:ext cx="2240280" cy="685800"/>
          </a:xfrm>
          <a:prstGeom prst="rect">
            <a:avLst/>
          </a:prstGeom>
          <a:noFill/>
          <a:ln/>
        </p:spPr>
        <p:txBody>
          <a:bodyPr wrap="square" rtlCol="0" anchor="ctr"/>
          <a:lstStyle/>
          <a:p>
            <a:pPr marL="0" indent="0">
              <a:lnSpc>
                <a:spcPts val="1700"/>
              </a:lnSpc>
              <a:buNone/>
            </a:pPr>
            <a:r>
              <a:rPr lang="en-US" sz="1500" b="1" dirty="0">
                <a:solidFill>
                  <a:srgbClr val="24282A"/>
                </a:solidFill>
                <a:latin typeface="Cambria" pitchFamily="34" charset="0"/>
                <a:ea typeface="Cambria" pitchFamily="34" charset="-122"/>
                <a:cs typeface="Cambria" pitchFamily="34" charset="-120"/>
              </a:rPr>
              <a:t>Line up event #1</a:t>
            </a:r>
            <a:endParaRPr lang="en-US" sz="1500" dirty="0"/>
          </a:p>
        </p:txBody>
      </p:sp>
      <p:sp>
        <p:nvSpPr>
          <p:cNvPr id="21" name="Text 19"/>
          <p:cNvSpPr/>
          <p:nvPr/>
        </p:nvSpPr>
        <p:spPr>
          <a:xfrm>
            <a:off x="6400800" y="4297680"/>
            <a:ext cx="2240280" cy="1828800"/>
          </a:xfrm>
          <a:prstGeom prst="rect">
            <a:avLst/>
          </a:prstGeom>
          <a:noFill/>
          <a:ln/>
        </p:spPr>
        <p:txBody>
          <a:bodyPr wrap="square" rtlCol="0" anchor="ctr"/>
          <a:lstStyle/>
          <a:p>
            <a:pPr marL="0" indent="0">
              <a:lnSpc>
                <a:spcPts val="1500"/>
              </a:lnSpc>
              <a:buNone/>
            </a:pPr>
            <a:r>
              <a:rPr lang="en-US" sz="1150" dirty="0">
                <a:solidFill>
                  <a:srgbClr val="565D60"/>
                </a:solidFill>
                <a:latin typeface="Calibri" pitchFamily="34" charset="0"/>
                <a:ea typeface="Calibri" pitchFamily="34" charset="-122"/>
                <a:cs typeface="Calibri" pitchFamily="34" charset="-120"/>
              </a:rPr>
              <a:t>Secure a host venue (a company office), confirm 2–3 speakers, set a date 6–8 weeks out — small and simple beats perfect.</a:t>
            </a:r>
            <a:endParaRPr lang="en-US" sz="1150" dirty="0"/>
          </a:p>
        </p:txBody>
      </p:sp>
      <p:sp>
        <p:nvSpPr>
          <p:cNvPr id="22" name="Shape 20"/>
          <p:cNvSpPr/>
          <p:nvPr/>
        </p:nvSpPr>
        <p:spPr>
          <a:xfrm>
            <a:off x="9052560" y="2057400"/>
            <a:ext cx="2606040" cy="4160520"/>
          </a:xfrm>
          <a:prstGeom prst="roundRect">
            <a:avLst>
              <a:gd name="adj" fmla="val 3509"/>
            </a:avLst>
          </a:prstGeom>
          <a:solidFill>
            <a:srgbClr val="FFFFFF"/>
          </a:solidFill>
          <a:ln w="9525">
            <a:solidFill>
              <a:srgbClr val="B7C0C3"/>
            </a:solidFill>
            <a:prstDash val="solid"/>
          </a:ln>
          <a:effectLst>
            <a:outerShdw blurRad="63500" dist="25400" dir="5400000" algn="bl" rotWithShape="0">
              <a:srgbClr val="7C8689">
                <a:alpha val="20000"/>
              </a:srgbClr>
            </a:outerShdw>
          </a:effectLst>
        </p:spPr>
        <p:txBody>
          <a:bodyPr/>
          <a:lstStyle/>
          <a:p>
            <a:endParaRPr lang="en-US"/>
          </a:p>
        </p:txBody>
      </p:sp>
      <p:sp>
        <p:nvSpPr>
          <p:cNvPr id="23" name="Text 21"/>
          <p:cNvSpPr/>
          <p:nvPr/>
        </p:nvSpPr>
        <p:spPr>
          <a:xfrm>
            <a:off x="9235440" y="2240280"/>
            <a:ext cx="1463040" cy="731520"/>
          </a:xfrm>
          <a:prstGeom prst="rect">
            <a:avLst/>
          </a:prstGeom>
          <a:noFill/>
          <a:ln/>
        </p:spPr>
        <p:txBody>
          <a:bodyPr wrap="square" rtlCol="0" anchor="ctr"/>
          <a:lstStyle/>
          <a:p>
            <a:pPr marL="0" indent="0">
              <a:buNone/>
            </a:pPr>
            <a:r>
              <a:rPr lang="en-US" sz="3400" b="1" dirty="0">
                <a:solidFill>
                  <a:srgbClr val="B7C0C3"/>
                </a:solidFill>
                <a:latin typeface="Cambria" pitchFamily="34" charset="0"/>
                <a:ea typeface="Cambria" pitchFamily="34" charset="-122"/>
                <a:cs typeface="Cambria" pitchFamily="34" charset="-120"/>
              </a:rPr>
              <a:t>04</a:t>
            </a:r>
            <a:endParaRPr lang="en-US" sz="3400" dirty="0"/>
          </a:p>
        </p:txBody>
      </p:sp>
      <p:sp>
        <p:nvSpPr>
          <p:cNvPr id="24" name="Shape 22"/>
          <p:cNvSpPr/>
          <p:nvPr/>
        </p:nvSpPr>
        <p:spPr>
          <a:xfrm>
            <a:off x="9235440" y="3017520"/>
            <a:ext cx="365760" cy="365760"/>
          </a:xfrm>
          <a:prstGeom prst="ellipse">
            <a:avLst/>
          </a:prstGeom>
          <a:solidFill>
            <a:srgbClr val="D9600B"/>
          </a:solidFill>
          <a:ln/>
        </p:spPr>
        <p:txBody>
          <a:bodyPr/>
          <a:lstStyle/>
          <a:p>
            <a:endParaRPr lang="en-US"/>
          </a:p>
        </p:txBody>
      </p:sp>
      <p:sp>
        <p:nvSpPr>
          <p:cNvPr id="25" name="Text 23"/>
          <p:cNvSpPr/>
          <p:nvPr/>
        </p:nvSpPr>
        <p:spPr>
          <a:xfrm>
            <a:off x="9235440" y="3566160"/>
            <a:ext cx="2240280" cy="685800"/>
          </a:xfrm>
          <a:prstGeom prst="rect">
            <a:avLst/>
          </a:prstGeom>
          <a:noFill/>
          <a:ln/>
        </p:spPr>
        <p:txBody>
          <a:bodyPr wrap="square" rtlCol="0" anchor="ctr"/>
          <a:lstStyle/>
          <a:p>
            <a:pPr marL="0" indent="0">
              <a:lnSpc>
                <a:spcPts val="1700"/>
              </a:lnSpc>
              <a:buNone/>
            </a:pPr>
            <a:r>
              <a:rPr lang="en-US" sz="1500" b="1" dirty="0">
                <a:solidFill>
                  <a:srgbClr val="24282A"/>
                </a:solidFill>
                <a:latin typeface="Cambria" pitchFamily="34" charset="0"/>
                <a:ea typeface="Cambria" pitchFamily="34" charset="-122"/>
                <a:cs typeface="Cambria" pitchFamily="34" charset="-120"/>
              </a:rPr>
              <a:t>Open the doors</a:t>
            </a:r>
            <a:endParaRPr lang="en-US" sz="1500" dirty="0"/>
          </a:p>
        </p:txBody>
      </p:sp>
      <p:sp>
        <p:nvSpPr>
          <p:cNvPr id="26" name="Text 24"/>
          <p:cNvSpPr/>
          <p:nvPr/>
        </p:nvSpPr>
        <p:spPr>
          <a:xfrm>
            <a:off x="9235440" y="4297680"/>
            <a:ext cx="2240280" cy="1828800"/>
          </a:xfrm>
          <a:prstGeom prst="rect">
            <a:avLst/>
          </a:prstGeom>
          <a:noFill/>
          <a:ln/>
        </p:spPr>
        <p:txBody>
          <a:bodyPr wrap="square" rtlCol="0" anchor="ctr"/>
          <a:lstStyle/>
          <a:p>
            <a:pPr marL="0" indent="0">
              <a:lnSpc>
                <a:spcPts val="1500"/>
              </a:lnSpc>
              <a:buNone/>
            </a:pPr>
            <a:r>
              <a:rPr lang="en-US" sz="1150" dirty="0">
                <a:solidFill>
                  <a:srgbClr val="565D60"/>
                </a:solidFill>
                <a:latin typeface="Calibri" pitchFamily="34" charset="0"/>
                <a:ea typeface="Calibri" pitchFamily="34" charset="-122"/>
                <a:cs typeface="Calibri" pitchFamily="34" charset="-120"/>
              </a:rPr>
              <a:t>Publish the event, invite personally (not just online), run it, publish photos &amp; recap, and set the date for #2 immediately.</a:t>
            </a:r>
            <a:endParaRPr lang="en-US" sz="1150" dirty="0"/>
          </a:p>
        </p:txBody>
      </p:sp>
      <p:sp>
        <p:nvSpPr>
          <p:cNvPr id="27" name="Text 25"/>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7C8689"/>
                </a:solidFill>
                <a:latin typeface="Calibri" pitchFamily="34" charset="0"/>
                <a:ea typeface="Calibri" pitchFamily="34" charset="-122"/>
                <a:cs typeface="Calibri" pitchFamily="34" charset="-120"/>
              </a:rPr>
              <a:t>06</a:t>
            </a:r>
            <a:endParaRPr lang="en-US" sz="1000" dirty="0"/>
          </a:p>
        </p:txBody>
      </p:sp>
      <p:pic>
        <p:nvPicPr>
          <p:cNvPr id="28" name="Picture 27">
            <a:extLst>
              <a:ext uri="{FF2B5EF4-FFF2-40B4-BE49-F238E27FC236}">
                <a16:creationId xmlns:a16="http://schemas.microsoft.com/office/drawing/2014/main" id="{B4F4A3F7-BCC9-9C10-51FD-13ADDC7FC02A}"/>
              </a:ext>
            </a:extLst>
          </p:cNvPr>
          <p:cNvPicPr>
            <a:picLocks noChangeAspect="1"/>
          </p:cNvPicPr>
          <p:nvPr/>
        </p:nvPicPr>
        <p:blipFill>
          <a:blip r:embed="rId3">
            <a:alphaModFix amt="20000"/>
          </a:blip>
          <a:stretch>
            <a:fillRect/>
          </a:stretch>
        </p:blipFill>
        <p:spPr>
          <a:xfrm rot="13521678">
            <a:off x="10581708" y="216126"/>
            <a:ext cx="1860102" cy="9290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72E3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F0A868"/>
                </a:solidFill>
                <a:latin typeface="Calibri" pitchFamily="34" charset="0"/>
                <a:ea typeface="Calibri" pitchFamily="34" charset="-122"/>
                <a:cs typeface="Calibri" pitchFamily="34" charset="-120"/>
              </a:rPr>
              <a:t>FUNDING</a:t>
            </a:r>
            <a:endParaRPr lang="en-US" sz="12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 lean, sponsor-funded model — no membership fees</a:t>
            </a:r>
            <a:endParaRPr lang="en-US" sz="3200" dirty="0"/>
          </a:p>
        </p:txBody>
      </p:sp>
      <p:sp>
        <p:nvSpPr>
          <p:cNvPr id="4" name="Shape 2"/>
          <p:cNvSpPr/>
          <p:nvPr/>
        </p:nvSpPr>
        <p:spPr>
          <a:xfrm>
            <a:off x="548640" y="2148840"/>
            <a:ext cx="3429000" cy="3749040"/>
          </a:xfrm>
          <a:prstGeom prst="roundRect">
            <a:avLst>
              <a:gd name="adj" fmla="val 2667"/>
            </a:avLst>
          </a:prstGeom>
          <a:solidFill>
            <a:srgbClr val="343D41"/>
          </a:solidFill>
          <a:ln w="15875">
            <a:solidFill>
              <a:srgbClr val="B7C0C3"/>
            </a:solidFill>
            <a:prstDash val="solid"/>
          </a:ln>
        </p:spPr>
        <p:txBody>
          <a:bodyPr/>
          <a:lstStyle/>
          <a:p>
            <a:endParaRPr lang="en-US"/>
          </a:p>
        </p:txBody>
      </p:sp>
      <p:sp>
        <p:nvSpPr>
          <p:cNvPr id="5" name="Text 3"/>
          <p:cNvSpPr/>
          <p:nvPr/>
        </p:nvSpPr>
        <p:spPr>
          <a:xfrm>
            <a:off x="822960" y="2377440"/>
            <a:ext cx="2880360" cy="411480"/>
          </a:xfrm>
          <a:prstGeom prst="rect">
            <a:avLst/>
          </a:prstGeom>
          <a:noFill/>
          <a:ln/>
        </p:spPr>
        <p:txBody>
          <a:bodyPr wrap="square" rtlCol="0" anchor="ctr"/>
          <a:lstStyle/>
          <a:p>
            <a:pPr marL="0" indent="0">
              <a:buNone/>
            </a:pPr>
            <a:r>
              <a:rPr lang="en-US" sz="1800" b="1" dirty="0">
                <a:solidFill>
                  <a:srgbClr val="B7C0C3"/>
                </a:solidFill>
                <a:latin typeface="Cambria" pitchFamily="34" charset="0"/>
                <a:ea typeface="Cambria" pitchFamily="34" charset="-122"/>
                <a:cs typeface="Cambria" pitchFamily="34" charset="-120"/>
              </a:rPr>
              <a:t>In-kind</a:t>
            </a:r>
            <a:endParaRPr lang="en-US" sz="1800" dirty="0"/>
          </a:p>
        </p:txBody>
      </p:sp>
      <p:sp>
        <p:nvSpPr>
          <p:cNvPr id="6" name="Text 4"/>
          <p:cNvSpPr/>
          <p:nvPr/>
        </p:nvSpPr>
        <p:spPr>
          <a:xfrm>
            <a:off x="822960" y="2770632"/>
            <a:ext cx="28803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€0 cash</a:t>
            </a:r>
            <a:endParaRPr lang="en-US" sz="1300" dirty="0"/>
          </a:p>
        </p:txBody>
      </p:sp>
      <p:sp>
        <p:nvSpPr>
          <p:cNvPr id="7" name="Shape 5"/>
          <p:cNvSpPr/>
          <p:nvPr/>
        </p:nvSpPr>
        <p:spPr>
          <a:xfrm>
            <a:off x="822960" y="3246120"/>
            <a:ext cx="2880360" cy="0"/>
          </a:xfrm>
          <a:prstGeom prst="line">
            <a:avLst/>
          </a:prstGeom>
          <a:noFill/>
          <a:ln w="12700">
            <a:solidFill>
              <a:srgbClr val="424C4F"/>
            </a:solidFill>
            <a:prstDash val="solid"/>
          </a:ln>
        </p:spPr>
        <p:txBody>
          <a:bodyPr/>
          <a:lstStyle/>
          <a:p>
            <a:endParaRPr lang="en-US"/>
          </a:p>
        </p:txBody>
      </p:sp>
      <p:sp>
        <p:nvSpPr>
          <p:cNvPr id="8" name="Shape 6"/>
          <p:cNvSpPr/>
          <p:nvPr/>
        </p:nvSpPr>
        <p:spPr>
          <a:xfrm>
            <a:off x="822960" y="3502152"/>
            <a:ext cx="73152" cy="73152"/>
          </a:xfrm>
          <a:prstGeom prst="ellipse">
            <a:avLst/>
          </a:prstGeom>
          <a:solidFill>
            <a:srgbClr val="B7C0C3"/>
          </a:solidFill>
          <a:ln/>
        </p:spPr>
        <p:txBody>
          <a:bodyPr/>
          <a:lstStyle/>
          <a:p>
            <a:endParaRPr lang="en-US"/>
          </a:p>
        </p:txBody>
      </p:sp>
      <p:sp>
        <p:nvSpPr>
          <p:cNvPr id="9" name="Text 7"/>
          <p:cNvSpPr/>
          <p:nvPr/>
        </p:nvSpPr>
        <p:spPr>
          <a:xfrm>
            <a:off x="1005840" y="3383280"/>
            <a:ext cx="2697480" cy="320033"/>
          </a:xfrm>
          <a:prstGeom prst="rect">
            <a:avLst/>
          </a:prstGeom>
          <a:noFill/>
          <a:ln/>
        </p:spPr>
        <p:txBody>
          <a:bodyPr wrap="square" rtlCol="0" anchor="ctr"/>
          <a:lstStyle/>
          <a:p>
            <a:pPr marL="0" indent="0">
              <a:lnSpc>
                <a:spcPts val="1400"/>
              </a:lnSpc>
              <a:buNone/>
            </a:pPr>
            <a:r>
              <a:rPr lang="en-US" sz="1200" dirty="0">
                <a:solidFill>
                  <a:srgbClr val="C7D0D3"/>
                </a:solidFill>
                <a:latin typeface="Calibri" pitchFamily="34" charset="0"/>
                <a:ea typeface="Calibri" pitchFamily="34" charset="-122"/>
                <a:cs typeface="Calibri" pitchFamily="34" charset="-120"/>
              </a:rPr>
              <a:t>Host venue for a session</a:t>
            </a:r>
            <a:endParaRPr lang="en-US" sz="1200" dirty="0"/>
          </a:p>
        </p:txBody>
      </p:sp>
      <p:sp>
        <p:nvSpPr>
          <p:cNvPr id="10" name="Shape 8"/>
          <p:cNvSpPr/>
          <p:nvPr/>
        </p:nvSpPr>
        <p:spPr>
          <a:xfrm>
            <a:off x="822960" y="4160520"/>
            <a:ext cx="73152" cy="73152"/>
          </a:xfrm>
          <a:prstGeom prst="ellipse">
            <a:avLst/>
          </a:prstGeom>
          <a:solidFill>
            <a:srgbClr val="B7C0C3"/>
          </a:solidFill>
          <a:ln/>
        </p:spPr>
        <p:txBody>
          <a:bodyPr/>
          <a:lstStyle/>
          <a:p>
            <a:endParaRPr lang="en-US"/>
          </a:p>
        </p:txBody>
      </p:sp>
      <p:sp>
        <p:nvSpPr>
          <p:cNvPr id="11" name="Text 9"/>
          <p:cNvSpPr/>
          <p:nvPr/>
        </p:nvSpPr>
        <p:spPr>
          <a:xfrm>
            <a:off x="1005840" y="4041648"/>
            <a:ext cx="2697480" cy="320033"/>
          </a:xfrm>
          <a:prstGeom prst="rect">
            <a:avLst/>
          </a:prstGeom>
          <a:noFill/>
          <a:ln/>
        </p:spPr>
        <p:txBody>
          <a:bodyPr wrap="square" rtlCol="0" anchor="ctr"/>
          <a:lstStyle/>
          <a:p>
            <a:pPr marL="0" indent="0">
              <a:lnSpc>
                <a:spcPts val="1400"/>
              </a:lnSpc>
              <a:buNone/>
            </a:pPr>
            <a:r>
              <a:rPr lang="en-US" sz="1200" dirty="0">
                <a:solidFill>
                  <a:srgbClr val="C7D0D3"/>
                </a:solidFill>
                <a:latin typeface="Calibri" pitchFamily="34" charset="0"/>
                <a:ea typeface="Calibri" pitchFamily="34" charset="-122"/>
                <a:cs typeface="Calibri" pitchFamily="34" charset="-120"/>
              </a:rPr>
              <a:t>Catering / drinks</a:t>
            </a:r>
            <a:endParaRPr lang="en-US" sz="1200" dirty="0"/>
          </a:p>
        </p:txBody>
      </p:sp>
      <p:sp>
        <p:nvSpPr>
          <p:cNvPr id="12" name="Shape 10"/>
          <p:cNvSpPr/>
          <p:nvPr/>
        </p:nvSpPr>
        <p:spPr>
          <a:xfrm>
            <a:off x="822960" y="4818888"/>
            <a:ext cx="73152" cy="73152"/>
          </a:xfrm>
          <a:prstGeom prst="ellipse">
            <a:avLst/>
          </a:prstGeom>
          <a:solidFill>
            <a:srgbClr val="B7C0C3"/>
          </a:solidFill>
          <a:ln/>
        </p:spPr>
        <p:txBody>
          <a:bodyPr/>
          <a:lstStyle/>
          <a:p>
            <a:endParaRPr lang="en-US"/>
          </a:p>
        </p:txBody>
      </p:sp>
      <p:sp>
        <p:nvSpPr>
          <p:cNvPr id="13" name="Text 11"/>
          <p:cNvSpPr/>
          <p:nvPr/>
        </p:nvSpPr>
        <p:spPr>
          <a:xfrm>
            <a:off x="1005840" y="4700016"/>
            <a:ext cx="2697480" cy="320033"/>
          </a:xfrm>
          <a:prstGeom prst="rect">
            <a:avLst/>
          </a:prstGeom>
          <a:noFill/>
          <a:ln/>
        </p:spPr>
        <p:txBody>
          <a:bodyPr wrap="square" rtlCol="0" anchor="ctr"/>
          <a:lstStyle/>
          <a:p>
            <a:pPr marL="0" indent="0">
              <a:lnSpc>
                <a:spcPts val="1400"/>
              </a:lnSpc>
              <a:buNone/>
            </a:pPr>
            <a:r>
              <a:rPr lang="en-US" sz="1200" dirty="0">
                <a:solidFill>
                  <a:srgbClr val="C7D0D3"/>
                </a:solidFill>
                <a:latin typeface="Calibri" pitchFamily="34" charset="0"/>
                <a:ea typeface="Calibri" pitchFamily="34" charset="-122"/>
                <a:cs typeface="Calibri" pitchFamily="34" charset="-120"/>
              </a:rPr>
              <a:t>Printing, swag, recording equipment</a:t>
            </a:r>
            <a:endParaRPr lang="en-US" sz="1200" dirty="0"/>
          </a:p>
        </p:txBody>
      </p:sp>
      <p:sp>
        <p:nvSpPr>
          <p:cNvPr id="14" name="Shape 12"/>
          <p:cNvSpPr/>
          <p:nvPr/>
        </p:nvSpPr>
        <p:spPr>
          <a:xfrm>
            <a:off x="4233672" y="2148840"/>
            <a:ext cx="3429000" cy="3749040"/>
          </a:xfrm>
          <a:prstGeom prst="roundRect">
            <a:avLst>
              <a:gd name="adj" fmla="val 2667"/>
            </a:avLst>
          </a:prstGeom>
          <a:solidFill>
            <a:srgbClr val="343D41"/>
          </a:solidFill>
          <a:ln w="15875">
            <a:solidFill>
              <a:srgbClr val="F0A868"/>
            </a:solidFill>
            <a:prstDash val="solid"/>
          </a:ln>
        </p:spPr>
        <p:txBody>
          <a:bodyPr/>
          <a:lstStyle/>
          <a:p>
            <a:endParaRPr lang="en-US"/>
          </a:p>
        </p:txBody>
      </p:sp>
      <p:sp>
        <p:nvSpPr>
          <p:cNvPr id="15" name="Text 13"/>
          <p:cNvSpPr/>
          <p:nvPr/>
        </p:nvSpPr>
        <p:spPr>
          <a:xfrm>
            <a:off x="4507992" y="2377440"/>
            <a:ext cx="2880360" cy="411480"/>
          </a:xfrm>
          <a:prstGeom prst="rect">
            <a:avLst/>
          </a:prstGeom>
          <a:noFill/>
          <a:ln/>
        </p:spPr>
        <p:txBody>
          <a:bodyPr wrap="square" rtlCol="0" anchor="ctr"/>
          <a:lstStyle/>
          <a:p>
            <a:pPr marL="0" indent="0">
              <a:buNone/>
            </a:pPr>
            <a:r>
              <a:rPr lang="en-US" sz="1800" b="1" dirty="0">
                <a:solidFill>
                  <a:srgbClr val="F0A868"/>
                </a:solidFill>
                <a:latin typeface="Cambria" pitchFamily="34" charset="0"/>
                <a:ea typeface="Cambria" pitchFamily="34" charset="-122"/>
                <a:cs typeface="Cambria" pitchFamily="34" charset="-120"/>
              </a:rPr>
              <a:t>Community sponsor</a:t>
            </a:r>
            <a:endParaRPr lang="en-US" sz="1800" dirty="0"/>
          </a:p>
        </p:txBody>
      </p:sp>
      <p:sp>
        <p:nvSpPr>
          <p:cNvPr id="16" name="Text 14"/>
          <p:cNvSpPr/>
          <p:nvPr/>
        </p:nvSpPr>
        <p:spPr>
          <a:xfrm>
            <a:off x="4507992" y="2770632"/>
            <a:ext cx="28803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€300–800 / event</a:t>
            </a:r>
            <a:endParaRPr lang="en-US" sz="1300" dirty="0"/>
          </a:p>
        </p:txBody>
      </p:sp>
      <p:sp>
        <p:nvSpPr>
          <p:cNvPr id="17" name="Shape 15"/>
          <p:cNvSpPr/>
          <p:nvPr/>
        </p:nvSpPr>
        <p:spPr>
          <a:xfrm>
            <a:off x="4507992" y="3246120"/>
            <a:ext cx="2880360" cy="0"/>
          </a:xfrm>
          <a:prstGeom prst="line">
            <a:avLst/>
          </a:prstGeom>
          <a:noFill/>
          <a:ln w="12700">
            <a:solidFill>
              <a:srgbClr val="424C4F"/>
            </a:solidFill>
            <a:prstDash val="solid"/>
          </a:ln>
        </p:spPr>
        <p:txBody>
          <a:bodyPr/>
          <a:lstStyle/>
          <a:p>
            <a:endParaRPr lang="en-US"/>
          </a:p>
        </p:txBody>
      </p:sp>
      <p:sp>
        <p:nvSpPr>
          <p:cNvPr id="18" name="Shape 16"/>
          <p:cNvSpPr/>
          <p:nvPr/>
        </p:nvSpPr>
        <p:spPr>
          <a:xfrm>
            <a:off x="4507992" y="3502152"/>
            <a:ext cx="73152" cy="73152"/>
          </a:xfrm>
          <a:prstGeom prst="ellipse">
            <a:avLst/>
          </a:prstGeom>
          <a:solidFill>
            <a:srgbClr val="F0A868"/>
          </a:solidFill>
          <a:ln/>
        </p:spPr>
        <p:txBody>
          <a:bodyPr/>
          <a:lstStyle/>
          <a:p>
            <a:endParaRPr lang="en-US"/>
          </a:p>
        </p:txBody>
      </p:sp>
      <p:sp>
        <p:nvSpPr>
          <p:cNvPr id="19" name="Text 17"/>
          <p:cNvSpPr/>
          <p:nvPr/>
        </p:nvSpPr>
        <p:spPr>
          <a:xfrm>
            <a:off x="4690872" y="3383280"/>
            <a:ext cx="2697480" cy="320032"/>
          </a:xfrm>
          <a:prstGeom prst="rect">
            <a:avLst/>
          </a:prstGeom>
          <a:noFill/>
          <a:ln/>
        </p:spPr>
        <p:txBody>
          <a:bodyPr wrap="square" rtlCol="0" anchor="ctr"/>
          <a:lstStyle/>
          <a:p>
            <a:pPr marL="0" indent="0">
              <a:lnSpc>
                <a:spcPts val="1400"/>
              </a:lnSpc>
              <a:buNone/>
            </a:pPr>
            <a:r>
              <a:rPr lang="en-US" sz="1200" dirty="0">
                <a:solidFill>
                  <a:srgbClr val="C7D0D3"/>
                </a:solidFill>
                <a:latin typeface="Calibri" pitchFamily="34" charset="0"/>
                <a:ea typeface="Calibri" pitchFamily="34" charset="-122"/>
                <a:cs typeface="Calibri" pitchFamily="34" charset="-120"/>
              </a:rPr>
              <a:t>Logo on site, deck &amp; recap email</a:t>
            </a:r>
            <a:endParaRPr lang="en-US" sz="1200" dirty="0"/>
          </a:p>
        </p:txBody>
      </p:sp>
      <p:sp>
        <p:nvSpPr>
          <p:cNvPr id="20" name="Shape 18"/>
          <p:cNvSpPr/>
          <p:nvPr/>
        </p:nvSpPr>
        <p:spPr>
          <a:xfrm>
            <a:off x="4507992" y="4160520"/>
            <a:ext cx="73152" cy="73152"/>
          </a:xfrm>
          <a:prstGeom prst="ellipse">
            <a:avLst/>
          </a:prstGeom>
          <a:solidFill>
            <a:srgbClr val="F0A868"/>
          </a:solidFill>
          <a:ln/>
        </p:spPr>
        <p:txBody>
          <a:bodyPr/>
          <a:lstStyle/>
          <a:p>
            <a:endParaRPr lang="en-US"/>
          </a:p>
        </p:txBody>
      </p:sp>
      <p:sp>
        <p:nvSpPr>
          <p:cNvPr id="21" name="Text 19"/>
          <p:cNvSpPr/>
          <p:nvPr/>
        </p:nvSpPr>
        <p:spPr>
          <a:xfrm>
            <a:off x="4690872" y="4041648"/>
            <a:ext cx="2697480" cy="320032"/>
          </a:xfrm>
          <a:prstGeom prst="rect">
            <a:avLst/>
          </a:prstGeom>
          <a:noFill/>
          <a:ln/>
        </p:spPr>
        <p:txBody>
          <a:bodyPr wrap="square" rtlCol="0" anchor="ctr"/>
          <a:lstStyle/>
          <a:p>
            <a:pPr marL="0" indent="0">
              <a:lnSpc>
                <a:spcPts val="1400"/>
              </a:lnSpc>
              <a:buNone/>
            </a:pPr>
            <a:r>
              <a:rPr lang="en-US" sz="1200" dirty="0">
                <a:solidFill>
                  <a:srgbClr val="C7D0D3"/>
                </a:solidFill>
                <a:latin typeface="Calibri" pitchFamily="34" charset="0"/>
                <a:ea typeface="Calibri" pitchFamily="34" charset="-122"/>
                <a:cs typeface="Calibri" pitchFamily="34" charset="-120"/>
              </a:rPr>
              <a:t>Thank-you mention on stage</a:t>
            </a:r>
            <a:endParaRPr lang="en-US" sz="1200" dirty="0"/>
          </a:p>
        </p:txBody>
      </p:sp>
      <p:sp>
        <p:nvSpPr>
          <p:cNvPr id="22" name="Shape 20"/>
          <p:cNvSpPr/>
          <p:nvPr/>
        </p:nvSpPr>
        <p:spPr>
          <a:xfrm>
            <a:off x="4507992" y="4818888"/>
            <a:ext cx="73152" cy="73152"/>
          </a:xfrm>
          <a:prstGeom prst="ellipse">
            <a:avLst/>
          </a:prstGeom>
          <a:solidFill>
            <a:srgbClr val="F0A868"/>
          </a:solidFill>
          <a:ln/>
        </p:spPr>
        <p:txBody>
          <a:bodyPr/>
          <a:lstStyle/>
          <a:p>
            <a:endParaRPr lang="en-US"/>
          </a:p>
        </p:txBody>
      </p:sp>
      <p:sp>
        <p:nvSpPr>
          <p:cNvPr id="23" name="Text 21"/>
          <p:cNvSpPr/>
          <p:nvPr/>
        </p:nvSpPr>
        <p:spPr>
          <a:xfrm>
            <a:off x="4690872" y="4700016"/>
            <a:ext cx="2697480" cy="320032"/>
          </a:xfrm>
          <a:prstGeom prst="rect">
            <a:avLst/>
          </a:prstGeom>
          <a:noFill/>
          <a:ln/>
        </p:spPr>
        <p:txBody>
          <a:bodyPr wrap="square" rtlCol="0" anchor="ctr"/>
          <a:lstStyle/>
          <a:p>
            <a:pPr marL="0" indent="0">
              <a:lnSpc>
                <a:spcPts val="1400"/>
              </a:lnSpc>
              <a:buNone/>
            </a:pPr>
            <a:r>
              <a:rPr lang="en-US" sz="1200" dirty="0">
                <a:solidFill>
                  <a:srgbClr val="C7D0D3"/>
                </a:solidFill>
                <a:latin typeface="Calibri" pitchFamily="34" charset="0"/>
                <a:ea typeface="Calibri" pitchFamily="34" charset="-122"/>
                <a:cs typeface="Calibri" pitchFamily="34" charset="-120"/>
              </a:rPr>
              <a:t>2 min slot to share a career opening</a:t>
            </a:r>
            <a:endParaRPr lang="en-US" sz="1200" dirty="0"/>
          </a:p>
        </p:txBody>
      </p:sp>
      <p:sp>
        <p:nvSpPr>
          <p:cNvPr id="24" name="Shape 22"/>
          <p:cNvSpPr/>
          <p:nvPr/>
        </p:nvSpPr>
        <p:spPr>
          <a:xfrm>
            <a:off x="7918704" y="2148840"/>
            <a:ext cx="3429000" cy="3749040"/>
          </a:xfrm>
          <a:prstGeom prst="roundRect">
            <a:avLst>
              <a:gd name="adj" fmla="val 2667"/>
            </a:avLst>
          </a:prstGeom>
          <a:solidFill>
            <a:srgbClr val="343D41"/>
          </a:solidFill>
          <a:ln w="15875">
            <a:solidFill>
              <a:srgbClr val="D9600B"/>
            </a:solidFill>
            <a:prstDash val="solid"/>
          </a:ln>
        </p:spPr>
        <p:txBody>
          <a:bodyPr/>
          <a:lstStyle/>
          <a:p>
            <a:endParaRPr lang="en-US"/>
          </a:p>
        </p:txBody>
      </p:sp>
      <p:sp>
        <p:nvSpPr>
          <p:cNvPr id="25" name="Text 23"/>
          <p:cNvSpPr/>
          <p:nvPr/>
        </p:nvSpPr>
        <p:spPr>
          <a:xfrm>
            <a:off x="8193024" y="2377440"/>
            <a:ext cx="2880360" cy="411480"/>
          </a:xfrm>
          <a:prstGeom prst="rect">
            <a:avLst/>
          </a:prstGeom>
          <a:noFill/>
          <a:ln/>
        </p:spPr>
        <p:txBody>
          <a:bodyPr wrap="square" rtlCol="0" anchor="ctr"/>
          <a:lstStyle/>
          <a:p>
            <a:pPr marL="0" indent="0">
              <a:buNone/>
            </a:pPr>
            <a:r>
              <a:rPr lang="en-US" sz="1800" b="1" dirty="0">
                <a:solidFill>
                  <a:srgbClr val="D9600B"/>
                </a:solidFill>
                <a:latin typeface="Cambria" pitchFamily="34" charset="0"/>
                <a:ea typeface="Cambria" pitchFamily="34" charset="-122"/>
                <a:cs typeface="Cambria" pitchFamily="34" charset="-120"/>
              </a:rPr>
              <a:t>Founding sponsor</a:t>
            </a:r>
            <a:endParaRPr lang="en-US" sz="1800" dirty="0"/>
          </a:p>
        </p:txBody>
      </p:sp>
      <p:sp>
        <p:nvSpPr>
          <p:cNvPr id="26" name="Text 24"/>
          <p:cNvSpPr/>
          <p:nvPr/>
        </p:nvSpPr>
        <p:spPr>
          <a:xfrm>
            <a:off x="8193024" y="2770632"/>
            <a:ext cx="288036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€2,000–5,000 / year</a:t>
            </a:r>
            <a:endParaRPr lang="en-US" sz="1300" dirty="0"/>
          </a:p>
        </p:txBody>
      </p:sp>
      <p:sp>
        <p:nvSpPr>
          <p:cNvPr id="27" name="Shape 25"/>
          <p:cNvSpPr/>
          <p:nvPr/>
        </p:nvSpPr>
        <p:spPr>
          <a:xfrm>
            <a:off x="8193024" y="3246120"/>
            <a:ext cx="2880360" cy="0"/>
          </a:xfrm>
          <a:prstGeom prst="line">
            <a:avLst/>
          </a:prstGeom>
          <a:noFill/>
          <a:ln w="12700">
            <a:solidFill>
              <a:srgbClr val="424C4F"/>
            </a:solidFill>
            <a:prstDash val="solid"/>
          </a:ln>
        </p:spPr>
        <p:txBody>
          <a:bodyPr/>
          <a:lstStyle/>
          <a:p>
            <a:endParaRPr lang="en-US"/>
          </a:p>
        </p:txBody>
      </p:sp>
      <p:sp>
        <p:nvSpPr>
          <p:cNvPr id="28" name="Shape 26"/>
          <p:cNvSpPr/>
          <p:nvPr/>
        </p:nvSpPr>
        <p:spPr>
          <a:xfrm>
            <a:off x="8193024" y="3502152"/>
            <a:ext cx="73152" cy="73152"/>
          </a:xfrm>
          <a:prstGeom prst="ellipse">
            <a:avLst/>
          </a:prstGeom>
          <a:solidFill>
            <a:srgbClr val="D9600B"/>
          </a:solidFill>
          <a:ln/>
        </p:spPr>
        <p:txBody>
          <a:bodyPr/>
          <a:lstStyle/>
          <a:p>
            <a:endParaRPr lang="en-US"/>
          </a:p>
        </p:txBody>
      </p:sp>
      <p:sp>
        <p:nvSpPr>
          <p:cNvPr id="29" name="Text 27"/>
          <p:cNvSpPr/>
          <p:nvPr/>
        </p:nvSpPr>
        <p:spPr>
          <a:xfrm>
            <a:off x="8375904" y="3383280"/>
            <a:ext cx="2697480" cy="320032"/>
          </a:xfrm>
          <a:prstGeom prst="rect">
            <a:avLst/>
          </a:prstGeom>
          <a:noFill/>
          <a:ln/>
        </p:spPr>
        <p:txBody>
          <a:bodyPr wrap="square" rtlCol="0" anchor="ctr"/>
          <a:lstStyle/>
          <a:p>
            <a:pPr marL="0" indent="0">
              <a:lnSpc>
                <a:spcPts val="1400"/>
              </a:lnSpc>
              <a:buNone/>
            </a:pPr>
            <a:r>
              <a:rPr lang="en-US" sz="1200" dirty="0">
                <a:solidFill>
                  <a:srgbClr val="C7D0D3"/>
                </a:solidFill>
                <a:latin typeface="Calibri" pitchFamily="34" charset="0"/>
                <a:ea typeface="Calibri" pitchFamily="34" charset="-122"/>
                <a:cs typeface="Calibri" pitchFamily="34" charset="-120"/>
              </a:rPr>
              <a:t>Named as annual founding partner</a:t>
            </a:r>
            <a:endParaRPr lang="en-US" sz="1200" dirty="0"/>
          </a:p>
        </p:txBody>
      </p:sp>
      <p:sp>
        <p:nvSpPr>
          <p:cNvPr id="30" name="Shape 28"/>
          <p:cNvSpPr/>
          <p:nvPr/>
        </p:nvSpPr>
        <p:spPr>
          <a:xfrm>
            <a:off x="8193024" y="4160520"/>
            <a:ext cx="73152" cy="73152"/>
          </a:xfrm>
          <a:prstGeom prst="ellipse">
            <a:avLst/>
          </a:prstGeom>
          <a:solidFill>
            <a:srgbClr val="D9600B"/>
          </a:solidFill>
          <a:ln/>
        </p:spPr>
        <p:txBody>
          <a:bodyPr/>
          <a:lstStyle/>
          <a:p>
            <a:endParaRPr lang="en-US"/>
          </a:p>
        </p:txBody>
      </p:sp>
      <p:sp>
        <p:nvSpPr>
          <p:cNvPr id="31" name="Text 29"/>
          <p:cNvSpPr/>
          <p:nvPr/>
        </p:nvSpPr>
        <p:spPr>
          <a:xfrm>
            <a:off x="8375904" y="4041648"/>
            <a:ext cx="2697480" cy="320032"/>
          </a:xfrm>
          <a:prstGeom prst="rect">
            <a:avLst/>
          </a:prstGeom>
          <a:noFill/>
          <a:ln/>
        </p:spPr>
        <p:txBody>
          <a:bodyPr wrap="square" rtlCol="0" anchor="ctr"/>
          <a:lstStyle/>
          <a:p>
            <a:pPr marL="0" indent="0">
              <a:lnSpc>
                <a:spcPts val="1400"/>
              </a:lnSpc>
              <a:buNone/>
            </a:pPr>
            <a:r>
              <a:rPr lang="en-US" sz="1200" dirty="0">
                <a:solidFill>
                  <a:srgbClr val="C7D0D3"/>
                </a:solidFill>
                <a:latin typeface="Calibri" pitchFamily="34" charset="0"/>
                <a:ea typeface="Calibri" pitchFamily="34" charset="-122"/>
                <a:cs typeface="Calibri" pitchFamily="34" charset="-120"/>
              </a:rPr>
              <a:t>Guaranteed speaking slot each session</a:t>
            </a:r>
            <a:endParaRPr lang="en-US" sz="1200" dirty="0"/>
          </a:p>
        </p:txBody>
      </p:sp>
      <p:sp>
        <p:nvSpPr>
          <p:cNvPr id="32" name="Shape 30"/>
          <p:cNvSpPr/>
          <p:nvPr/>
        </p:nvSpPr>
        <p:spPr>
          <a:xfrm>
            <a:off x="8193024" y="4818888"/>
            <a:ext cx="73152" cy="73152"/>
          </a:xfrm>
          <a:prstGeom prst="ellipse">
            <a:avLst/>
          </a:prstGeom>
          <a:solidFill>
            <a:srgbClr val="D9600B"/>
          </a:solidFill>
          <a:ln/>
        </p:spPr>
        <p:txBody>
          <a:bodyPr/>
          <a:lstStyle/>
          <a:p>
            <a:endParaRPr lang="en-US"/>
          </a:p>
        </p:txBody>
      </p:sp>
      <p:sp>
        <p:nvSpPr>
          <p:cNvPr id="33" name="Text 31"/>
          <p:cNvSpPr/>
          <p:nvPr/>
        </p:nvSpPr>
        <p:spPr>
          <a:xfrm>
            <a:off x="8375904" y="4700016"/>
            <a:ext cx="2697480" cy="320032"/>
          </a:xfrm>
          <a:prstGeom prst="rect">
            <a:avLst/>
          </a:prstGeom>
          <a:noFill/>
          <a:ln/>
        </p:spPr>
        <p:txBody>
          <a:bodyPr wrap="square" rtlCol="0" anchor="ctr"/>
          <a:lstStyle/>
          <a:p>
            <a:pPr marL="0" indent="0">
              <a:lnSpc>
                <a:spcPts val="1400"/>
              </a:lnSpc>
              <a:buNone/>
            </a:pPr>
            <a:r>
              <a:rPr lang="en-US" sz="1200" dirty="0">
                <a:solidFill>
                  <a:srgbClr val="C7D0D3"/>
                </a:solidFill>
                <a:latin typeface="Calibri" pitchFamily="34" charset="0"/>
                <a:ea typeface="Calibri" pitchFamily="34" charset="-122"/>
                <a:cs typeface="Calibri" pitchFamily="34" charset="-120"/>
              </a:rPr>
              <a:t>First access to co-host "NetMAD Day"</a:t>
            </a:r>
            <a:endParaRPr lang="en-US" sz="1200" dirty="0"/>
          </a:p>
        </p:txBody>
      </p:sp>
      <p:sp>
        <p:nvSpPr>
          <p:cNvPr id="34" name="Text 32"/>
          <p:cNvSpPr/>
          <p:nvPr/>
        </p:nvSpPr>
        <p:spPr>
          <a:xfrm>
            <a:off x="548640" y="6080760"/>
            <a:ext cx="11064240" cy="457200"/>
          </a:xfrm>
          <a:prstGeom prst="rect">
            <a:avLst/>
          </a:prstGeom>
          <a:noFill/>
          <a:ln/>
        </p:spPr>
        <p:txBody>
          <a:bodyPr wrap="square" rtlCol="0" anchor="ctr"/>
          <a:lstStyle/>
          <a:p>
            <a:pPr marL="0" indent="0">
              <a:buNone/>
            </a:pPr>
            <a:r>
              <a:rPr lang="en-US" sz="1150" i="1" dirty="0">
                <a:solidFill>
                  <a:srgbClr val="B7C0C3"/>
                </a:solidFill>
                <a:latin typeface="Calibri" pitchFamily="34" charset="0"/>
                <a:ea typeface="Calibri" pitchFamily="34" charset="-122"/>
                <a:cs typeface="Calibri" pitchFamily="34" charset="-120"/>
              </a:rPr>
              <a:t>Cash sponsorship never buys agenda control — every talk is reviewed by the organizing team on technical merit, mirroring the NAF model.</a:t>
            </a:r>
            <a:endParaRPr lang="en-US" sz="1150" dirty="0"/>
          </a:p>
        </p:txBody>
      </p:sp>
      <p:sp>
        <p:nvSpPr>
          <p:cNvPr id="35" name="Text 33"/>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B7C0C3"/>
                </a:solidFill>
                <a:latin typeface="Calibri" pitchFamily="34" charset="0"/>
                <a:ea typeface="Calibri" pitchFamily="34" charset="-122"/>
                <a:cs typeface="Calibri" pitchFamily="34" charset="-120"/>
              </a:rPr>
              <a:t>07</a:t>
            </a:r>
            <a:endParaRPr lang="en-US" sz="1000" dirty="0"/>
          </a:p>
        </p:txBody>
      </p:sp>
      <p:pic>
        <p:nvPicPr>
          <p:cNvPr id="36" name="Picture 35">
            <a:extLst>
              <a:ext uri="{FF2B5EF4-FFF2-40B4-BE49-F238E27FC236}">
                <a16:creationId xmlns:a16="http://schemas.microsoft.com/office/drawing/2014/main" id="{A2AD2582-EA7A-02B3-3F62-15E8B9A890BE}"/>
              </a:ext>
            </a:extLst>
          </p:cNvPr>
          <p:cNvPicPr>
            <a:picLocks noChangeAspect="1"/>
          </p:cNvPicPr>
          <p:nvPr/>
        </p:nvPicPr>
        <p:blipFill>
          <a:blip r:embed="rId3">
            <a:alphaModFix amt="20000"/>
          </a:blip>
          <a:stretch>
            <a:fillRect/>
          </a:stretch>
        </p:blipFill>
        <p:spPr>
          <a:xfrm rot="13521678">
            <a:off x="10581708" y="216126"/>
            <a:ext cx="1860102" cy="9290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D9600B"/>
                </a:solidFill>
                <a:latin typeface="Calibri" pitchFamily="34" charset="0"/>
                <a:ea typeface="Calibri" pitchFamily="34" charset="-122"/>
                <a:cs typeface="Calibri" pitchFamily="34" charset="-120"/>
              </a:rPr>
              <a:t>GETTING THE WORD OUT</a:t>
            </a:r>
            <a:endParaRPr lang="en-US" sz="12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24282A"/>
                </a:solidFill>
                <a:latin typeface="Cambria" pitchFamily="34" charset="0"/>
                <a:ea typeface="Cambria" pitchFamily="34" charset="-122"/>
                <a:cs typeface="Cambria" pitchFamily="34" charset="-120"/>
              </a:rPr>
              <a:t>Media &amp; social plan to fill the room</a:t>
            </a:r>
            <a:endParaRPr lang="en-US" sz="3200" dirty="0"/>
          </a:p>
        </p:txBody>
      </p:sp>
      <p:sp>
        <p:nvSpPr>
          <p:cNvPr id="4" name="Shape 2"/>
          <p:cNvSpPr/>
          <p:nvPr/>
        </p:nvSpPr>
        <p:spPr>
          <a:xfrm>
            <a:off x="548640" y="1965960"/>
            <a:ext cx="11109960" cy="694944"/>
          </a:xfrm>
          <a:prstGeom prst="roundRect">
            <a:avLst>
              <a:gd name="adj" fmla="val 7895"/>
            </a:avLst>
          </a:prstGeom>
          <a:solidFill>
            <a:srgbClr val="F4F5F5"/>
          </a:solidFill>
          <a:ln w="6350">
            <a:solidFill>
              <a:srgbClr val="B7C0C3"/>
            </a:solidFill>
            <a:prstDash val="solid"/>
          </a:ln>
        </p:spPr>
        <p:txBody>
          <a:bodyPr/>
          <a:lstStyle/>
          <a:p>
            <a:endParaRPr lang="en-US"/>
          </a:p>
        </p:txBody>
      </p:sp>
      <p:sp>
        <p:nvSpPr>
          <p:cNvPr id="5" name="Shape 3"/>
          <p:cNvSpPr/>
          <p:nvPr/>
        </p:nvSpPr>
        <p:spPr>
          <a:xfrm>
            <a:off x="749808" y="2176272"/>
            <a:ext cx="274320" cy="274320"/>
          </a:xfrm>
          <a:prstGeom prst="ellipse">
            <a:avLst/>
          </a:prstGeom>
          <a:solidFill>
            <a:srgbClr val="D9600B"/>
          </a:solidFill>
          <a:ln/>
        </p:spPr>
        <p:txBody>
          <a:bodyPr/>
          <a:lstStyle/>
          <a:p>
            <a:endParaRPr lang="en-US"/>
          </a:p>
        </p:txBody>
      </p:sp>
      <p:sp>
        <p:nvSpPr>
          <p:cNvPr id="6" name="Text 4"/>
          <p:cNvSpPr/>
          <p:nvPr/>
        </p:nvSpPr>
        <p:spPr>
          <a:xfrm>
            <a:off x="749808" y="2176272"/>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88720" y="2039112"/>
            <a:ext cx="2468880" cy="548640"/>
          </a:xfrm>
          <a:prstGeom prst="rect">
            <a:avLst/>
          </a:prstGeom>
          <a:noFill/>
          <a:ln/>
        </p:spPr>
        <p:txBody>
          <a:bodyPr wrap="square" rtlCol="0" anchor="ctr"/>
          <a:lstStyle/>
          <a:p>
            <a:pPr marL="0" indent="0">
              <a:buNone/>
            </a:pPr>
            <a:r>
              <a:rPr lang="en-US" sz="1350" b="1" dirty="0">
                <a:solidFill>
                  <a:srgbClr val="24282A"/>
                </a:solidFill>
                <a:latin typeface="Cambria" pitchFamily="34" charset="0"/>
                <a:ea typeface="Cambria" pitchFamily="34" charset="-122"/>
                <a:cs typeface="Cambria" pitchFamily="34" charset="-120"/>
              </a:rPr>
              <a:t>LinkedIn</a:t>
            </a:r>
            <a:endParaRPr lang="en-US" sz="1350" dirty="0"/>
          </a:p>
        </p:txBody>
      </p:sp>
      <p:sp>
        <p:nvSpPr>
          <p:cNvPr id="8" name="Text 6"/>
          <p:cNvSpPr/>
          <p:nvPr/>
        </p:nvSpPr>
        <p:spPr>
          <a:xfrm>
            <a:off x="3703320" y="2039112"/>
            <a:ext cx="1737360" cy="548640"/>
          </a:xfrm>
          <a:prstGeom prst="rect">
            <a:avLst/>
          </a:prstGeom>
          <a:noFill/>
          <a:ln/>
        </p:spPr>
        <p:txBody>
          <a:bodyPr wrap="square" rtlCol="0" anchor="ctr"/>
          <a:lstStyle/>
          <a:p>
            <a:pPr marL="0" indent="0">
              <a:buNone/>
            </a:pPr>
            <a:r>
              <a:rPr lang="en-US" sz="1100" i="1" dirty="0">
                <a:solidFill>
                  <a:srgbClr val="A84708"/>
                </a:solidFill>
                <a:latin typeface="Calibri" pitchFamily="34" charset="0"/>
                <a:ea typeface="Calibri" pitchFamily="34" charset="-122"/>
                <a:cs typeface="Calibri" pitchFamily="34" charset="-120"/>
              </a:rPr>
              <a:t>Primary channel</a:t>
            </a:r>
            <a:endParaRPr lang="en-US" sz="1100" dirty="0"/>
          </a:p>
        </p:txBody>
      </p:sp>
      <p:sp>
        <p:nvSpPr>
          <p:cNvPr id="9" name="Text 7"/>
          <p:cNvSpPr/>
          <p:nvPr/>
        </p:nvSpPr>
        <p:spPr>
          <a:xfrm>
            <a:off x="5486400" y="2039112"/>
            <a:ext cx="5989320" cy="548640"/>
          </a:xfrm>
          <a:prstGeom prst="rect">
            <a:avLst/>
          </a:prstGeom>
          <a:noFill/>
          <a:ln/>
        </p:spPr>
        <p:txBody>
          <a:bodyPr wrap="square" rtlCol="0" anchor="ctr"/>
          <a:lstStyle/>
          <a:p>
            <a:pPr marL="0" indent="0">
              <a:lnSpc>
                <a:spcPts val="1300"/>
              </a:lnSpc>
              <a:buNone/>
            </a:pPr>
            <a:r>
              <a:rPr lang="en-US" sz="1150" dirty="0">
                <a:solidFill>
                  <a:srgbClr val="565D60"/>
                </a:solidFill>
                <a:latin typeface="Calibri" pitchFamily="34" charset="0"/>
                <a:ea typeface="Calibri" pitchFamily="34" charset="-122"/>
                <a:cs typeface="Calibri" pitchFamily="34" charset="-120"/>
              </a:rPr>
              <a:t>Event pages, speaker spotlights, recap posts with photos; ask sponsors &amp; speakers to reshare to multiply reach</a:t>
            </a:r>
            <a:endParaRPr lang="en-US" sz="1150" dirty="0"/>
          </a:p>
        </p:txBody>
      </p:sp>
      <p:sp>
        <p:nvSpPr>
          <p:cNvPr id="10" name="Shape 8"/>
          <p:cNvSpPr/>
          <p:nvPr/>
        </p:nvSpPr>
        <p:spPr>
          <a:xfrm>
            <a:off x="548640" y="2715768"/>
            <a:ext cx="11109960" cy="694944"/>
          </a:xfrm>
          <a:prstGeom prst="roundRect">
            <a:avLst>
              <a:gd name="adj" fmla="val 7895"/>
            </a:avLst>
          </a:prstGeom>
          <a:solidFill>
            <a:srgbClr val="FFFFFF"/>
          </a:solidFill>
          <a:ln w="6350">
            <a:solidFill>
              <a:srgbClr val="B7C0C3"/>
            </a:solidFill>
            <a:prstDash val="solid"/>
          </a:ln>
        </p:spPr>
        <p:txBody>
          <a:bodyPr/>
          <a:lstStyle/>
          <a:p>
            <a:endParaRPr lang="en-US"/>
          </a:p>
        </p:txBody>
      </p:sp>
      <p:sp>
        <p:nvSpPr>
          <p:cNvPr id="11" name="Shape 9"/>
          <p:cNvSpPr/>
          <p:nvPr/>
        </p:nvSpPr>
        <p:spPr>
          <a:xfrm>
            <a:off x="749808" y="2926080"/>
            <a:ext cx="274320" cy="274320"/>
          </a:xfrm>
          <a:prstGeom prst="ellipse">
            <a:avLst/>
          </a:prstGeom>
          <a:solidFill>
            <a:srgbClr val="D9600B"/>
          </a:solidFill>
          <a:ln/>
        </p:spPr>
        <p:txBody>
          <a:bodyPr/>
          <a:lstStyle/>
          <a:p>
            <a:endParaRPr lang="en-US"/>
          </a:p>
        </p:txBody>
      </p:sp>
      <p:sp>
        <p:nvSpPr>
          <p:cNvPr id="12" name="Text 10"/>
          <p:cNvSpPr/>
          <p:nvPr/>
        </p:nvSpPr>
        <p:spPr>
          <a:xfrm>
            <a:off x="749808" y="2926080"/>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188720" y="2788920"/>
            <a:ext cx="2468880" cy="548640"/>
          </a:xfrm>
          <a:prstGeom prst="rect">
            <a:avLst/>
          </a:prstGeom>
          <a:noFill/>
          <a:ln/>
        </p:spPr>
        <p:txBody>
          <a:bodyPr wrap="square" rtlCol="0" anchor="ctr"/>
          <a:lstStyle/>
          <a:p>
            <a:pPr marL="0" indent="0">
              <a:buNone/>
            </a:pPr>
            <a:r>
              <a:rPr lang="en-US" sz="1350" b="1" dirty="0">
                <a:solidFill>
                  <a:srgbClr val="24282A"/>
                </a:solidFill>
                <a:latin typeface="Cambria" pitchFamily="34" charset="0"/>
                <a:ea typeface="Cambria" pitchFamily="34" charset="-122"/>
                <a:cs typeface="Cambria" pitchFamily="34" charset="-120"/>
              </a:rPr>
              <a:t>Discord community</a:t>
            </a:r>
            <a:endParaRPr lang="en-US" sz="1350" dirty="0"/>
          </a:p>
        </p:txBody>
      </p:sp>
      <p:sp>
        <p:nvSpPr>
          <p:cNvPr id="14" name="Text 12"/>
          <p:cNvSpPr/>
          <p:nvPr/>
        </p:nvSpPr>
        <p:spPr>
          <a:xfrm>
            <a:off x="3703320" y="2788920"/>
            <a:ext cx="1737360" cy="548640"/>
          </a:xfrm>
          <a:prstGeom prst="rect">
            <a:avLst/>
          </a:prstGeom>
          <a:noFill/>
          <a:ln/>
        </p:spPr>
        <p:txBody>
          <a:bodyPr wrap="square" rtlCol="0" anchor="ctr"/>
          <a:lstStyle/>
          <a:p>
            <a:pPr marL="0" indent="0">
              <a:buNone/>
            </a:pPr>
            <a:r>
              <a:rPr lang="en-US" sz="1100" i="1" dirty="0">
                <a:solidFill>
                  <a:srgbClr val="A84708"/>
                </a:solidFill>
                <a:latin typeface="Calibri" pitchFamily="34" charset="0"/>
                <a:ea typeface="Calibri" pitchFamily="34" charset="-122"/>
                <a:cs typeface="Calibri" pitchFamily="34" charset="-120"/>
              </a:rPr>
              <a:t>Daily conversation</a:t>
            </a:r>
            <a:endParaRPr lang="en-US" sz="1100" dirty="0"/>
          </a:p>
        </p:txBody>
      </p:sp>
      <p:sp>
        <p:nvSpPr>
          <p:cNvPr id="15" name="Text 13"/>
          <p:cNvSpPr/>
          <p:nvPr/>
        </p:nvSpPr>
        <p:spPr>
          <a:xfrm>
            <a:off x="5486400" y="2788920"/>
            <a:ext cx="5989320" cy="548640"/>
          </a:xfrm>
          <a:prstGeom prst="rect">
            <a:avLst/>
          </a:prstGeom>
          <a:noFill/>
          <a:ln/>
        </p:spPr>
        <p:txBody>
          <a:bodyPr wrap="square" rtlCol="0" anchor="ctr"/>
          <a:lstStyle/>
          <a:p>
            <a:pPr marL="0" indent="0">
              <a:lnSpc>
                <a:spcPts val="1300"/>
              </a:lnSpc>
              <a:buNone/>
            </a:pPr>
            <a:r>
              <a:rPr lang="en-US" sz="1150" dirty="0">
                <a:solidFill>
                  <a:srgbClr val="565D60"/>
                </a:solidFill>
                <a:latin typeface="Calibri" pitchFamily="34" charset="0"/>
                <a:ea typeface="Calibri" pitchFamily="34" charset="-122"/>
                <a:cs typeface="Calibri" pitchFamily="34" charset="-120"/>
              </a:rPr>
              <a:t>Low-friction home for questions, job posts, and announcements between events — mirrors NAF's Slack</a:t>
            </a:r>
            <a:endParaRPr lang="en-US" sz="1150" dirty="0"/>
          </a:p>
        </p:txBody>
      </p:sp>
      <p:sp>
        <p:nvSpPr>
          <p:cNvPr id="16" name="Shape 14"/>
          <p:cNvSpPr/>
          <p:nvPr/>
        </p:nvSpPr>
        <p:spPr>
          <a:xfrm>
            <a:off x="548640" y="3465576"/>
            <a:ext cx="11109960" cy="694944"/>
          </a:xfrm>
          <a:prstGeom prst="roundRect">
            <a:avLst>
              <a:gd name="adj" fmla="val 7895"/>
            </a:avLst>
          </a:prstGeom>
          <a:solidFill>
            <a:srgbClr val="F4F5F5"/>
          </a:solidFill>
          <a:ln w="6350">
            <a:solidFill>
              <a:srgbClr val="B7C0C3"/>
            </a:solidFill>
            <a:prstDash val="solid"/>
          </a:ln>
        </p:spPr>
        <p:txBody>
          <a:bodyPr/>
          <a:lstStyle/>
          <a:p>
            <a:endParaRPr lang="en-US"/>
          </a:p>
        </p:txBody>
      </p:sp>
      <p:sp>
        <p:nvSpPr>
          <p:cNvPr id="17" name="Shape 15"/>
          <p:cNvSpPr/>
          <p:nvPr/>
        </p:nvSpPr>
        <p:spPr>
          <a:xfrm>
            <a:off x="749808" y="3675888"/>
            <a:ext cx="274320" cy="274320"/>
          </a:xfrm>
          <a:prstGeom prst="ellipse">
            <a:avLst/>
          </a:prstGeom>
          <a:solidFill>
            <a:srgbClr val="D9600B"/>
          </a:solidFill>
          <a:ln/>
        </p:spPr>
        <p:txBody>
          <a:bodyPr/>
          <a:lstStyle/>
          <a:p>
            <a:endParaRPr lang="en-US"/>
          </a:p>
        </p:txBody>
      </p:sp>
      <p:sp>
        <p:nvSpPr>
          <p:cNvPr id="18" name="Text 16"/>
          <p:cNvSpPr/>
          <p:nvPr/>
        </p:nvSpPr>
        <p:spPr>
          <a:xfrm>
            <a:off x="749808" y="3675888"/>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188720" y="3538728"/>
            <a:ext cx="2468880" cy="548640"/>
          </a:xfrm>
          <a:prstGeom prst="rect">
            <a:avLst/>
          </a:prstGeom>
          <a:noFill/>
          <a:ln/>
        </p:spPr>
        <p:txBody>
          <a:bodyPr wrap="square" rtlCol="0" anchor="ctr"/>
          <a:lstStyle/>
          <a:p>
            <a:pPr marL="0" indent="0">
              <a:buNone/>
            </a:pPr>
            <a:r>
              <a:rPr lang="en-US" sz="1350" b="1" dirty="0">
                <a:solidFill>
                  <a:srgbClr val="24282A"/>
                </a:solidFill>
                <a:latin typeface="Cambria" pitchFamily="34" charset="0"/>
                <a:ea typeface="Cambria" pitchFamily="34" charset="-122"/>
                <a:cs typeface="Cambria" pitchFamily="34" charset="-120"/>
              </a:rPr>
              <a:t>Meetup / site + newsletter</a:t>
            </a:r>
            <a:endParaRPr lang="en-US" sz="1350" dirty="0"/>
          </a:p>
        </p:txBody>
      </p:sp>
      <p:sp>
        <p:nvSpPr>
          <p:cNvPr id="20" name="Text 18"/>
          <p:cNvSpPr/>
          <p:nvPr/>
        </p:nvSpPr>
        <p:spPr>
          <a:xfrm>
            <a:off x="3703320" y="3538728"/>
            <a:ext cx="1737360" cy="548640"/>
          </a:xfrm>
          <a:prstGeom prst="rect">
            <a:avLst/>
          </a:prstGeom>
          <a:noFill/>
          <a:ln/>
        </p:spPr>
        <p:txBody>
          <a:bodyPr wrap="square" rtlCol="0" anchor="ctr"/>
          <a:lstStyle/>
          <a:p>
            <a:pPr marL="0" indent="0">
              <a:buNone/>
            </a:pPr>
            <a:r>
              <a:rPr lang="en-US" sz="1100" i="1" dirty="0">
                <a:solidFill>
                  <a:srgbClr val="A84708"/>
                </a:solidFill>
                <a:latin typeface="Calibri" pitchFamily="34" charset="0"/>
                <a:ea typeface="Calibri" pitchFamily="34" charset="-122"/>
                <a:cs typeface="Calibri" pitchFamily="34" charset="-120"/>
              </a:rPr>
              <a:t>RSVPs &amp; memory</a:t>
            </a:r>
            <a:endParaRPr lang="en-US" sz="1100" dirty="0"/>
          </a:p>
        </p:txBody>
      </p:sp>
      <p:sp>
        <p:nvSpPr>
          <p:cNvPr id="21" name="Text 19"/>
          <p:cNvSpPr/>
          <p:nvPr/>
        </p:nvSpPr>
        <p:spPr>
          <a:xfrm>
            <a:off x="5486400" y="3538728"/>
            <a:ext cx="5989320" cy="548640"/>
          </a:xfrm>
          <a:prstGeom prst="rect">
            <a:avLst/>
          </a:prstGeom>
          <a:noFill/>
          <a:ln/>
        </p:spPr>
        <p:txBody>
          <a:bodyPr wrap="square" rtlCol="0" anchor="ctr"/>
          <a:lstStyle/>
          <a:p>
            <a:pPr marL="0" indent="0">
              <a:lnSpc>
                <a:spcPts val="1300"/>
              </a:lnSpc>
              <a:buNone/>
            </a:pPr>
            <a:r>
              <a:rPr lang="en-US" sz="1150" dirty="0">
                <a:solidFill>
                  <a:srgbClr val="565D60"/>
                </a:solidFill>
                <a:latin typeface="Calibri" pitchFamily="34" charset="0"/>
                <a:ea typeface="Calibri" pitchFamily="34" charset="-122"/>
                <a:cs typeface="Calibri" pitchFamily="34" charset="-120"/>
              </a:rPr>
              <a:t>Simple event page for sign-ups, monthly newsletter recapping talks and sharing recordings</a:t>
            </a:r>
            <a:endParaRPr lang="en-US" sz="1150" dirty="0"/>
          </a:p>
        </p:txBody>
      </p:sp>
      <p:sp>
        <p:nvSpPr>
          <p:cNvPr id="22" name="Shape 20"/>
          <p:cNvSpPr/>
          <p:nvPr/>
        </p:nvSpPr>
        <p:spPr>
          <a:xfrm>
            <a:off x="548640" y="4215384"/>
            <a:ext cx="11109960" cy="694944"/>
          </a:xfrm>
          <a:prstGeom prst="roundRect">
            <a:avLst>
              <a:gd name="adj" fmla="val 7895"/>
            </a:avLst>
          </a:prstGeom>
          <a:solidFill>
            <a:srgbClr val="FFFFFF"/>
          </a:solidFill>
          <a:ln w="6350">
            <a:solidFill>
              <a:srgbClr val="B7C0C3"/>
            </a:solidFill>
            <a:prstDash val="solid"/>
          </a:ln>
        </p:spPr>
        <p:txBody>
          <a:bodyPr/>
          <a:lstStyle/>
          <a:p>
            <a:endParaRPr lang="en-US"/>
          </a:p>
        </p:txBody>
      </p:sp>
      <p:sp>
        <p:nvSpPr>
          <p:cNvPr id="23" name="Shape 21"/>
          <p:cNvSpPr/>
          <p:nvPr/>
        </p:nvSpPr>
        <p:spPr>
          <a:xfrm>
            <a:off x="749808" y="4425696"/>
            <a:ext cx="274320" cy="274320"/>
          </a:xfrm>
          <a:prstGeom prst="ellipse">
            <a:avLst/>
          </a:prstGeom>
          <a:solidFill>
            <a:srgbClr val="D9600B"/>
          </a:solidFill>
          <a:ln/>
        </p:spPr>
        <p:txBody>
          <a:bodyPr/>
          <a:lstStyle/>
          <a:p>
            <a:endParaRPr lang="en-US"/>
          </a:p>
        </p:txBody>
      </p:sp>
      <p:sp>
        <p:nvSpPr>
          <p:cNvPr id="24" name="Text 22"/>
          <p:cNvSpPr/>
          <p:nvPr/>
        </p:nvSpPr>
        <p:spPr>
          <a:xfrm>
            <a:off x="749808" y="4425696"/>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188720" y="4288536"/>
            <a:ext cx="2468880" cy="548640"/>
          </a:xfrm>
          <a:prstGeom prst="rect">
            <a:avLst/>
          </a:prstGeom>
          <a:noFill/>
          <a:ln/>
        </p:spPr>
        <p:txBody>
          <a:bodyPr wrap="square" rtlCol="0" anchor="ctr"/>
          <a:lstStyle/>
          <a:p>
            <a:pPr marL="0" indent="0">
              <a:buNone/>
            </a:pPr>
            <a:r>
              <a:rPr lang="en-US" sz="1350" b="1" dirty="0">
                <a:solidFill>
                  <a:srgbClr val="24282A"/>
                </a:solidFill>
                <a:latin typeface="Cambria" pitchFamily="34" charset="0"/>
                <a:ea typeface="Cambria" pitchFamily="34" charset="-122"/>
                <a:cs typeface="Cambria" pitchFamily="34" charset="-120"/>
              </a:rPr>
              <a:t>Podcasts &amp; partner NOGs</a:t>
            </a:r>
            <a:endParaRPr lang="en-US" sz="1350" dirty="0"/>
          </a:p>
        </p:txBody>
      </p:sp>
      <p:sp>
        <p:nvSpPr>
          <p:cNvPr id="26" name="Text 24"/>
          <p:cNvSpPr/>
          <p:nvPr/>
        </p:nvSpPr>
        <p:spPr>
          <a:xfrm>
            <a:off x="3703320" y="4288536"/>
            <a:ext cx="1737360" cy="548640"/>
          </a:xfrm>
          <a:prstGeom prst="rect">
            <a:avLst/>
          </a:prstGeom>
          <a:noFill/>
          <a:ln/>
        </p:spPr>
        <p:txBody>
          <a:bodyPr wrap="square" rtlCol="0" anchor="ctr"/>
          <a:lstStyle/>
          <a:p>
            <a:pPr marL="0" indent="0">
              <a:buNone/>
            </a:pPr>
            <a:r>
              <a:rPr lang="en-US" sz="1100" i="1" dirty="0">
                <a:solidFill>
                  <a:srgbClr val="A84708"/>
                </a:solidFill>
                <a:latin typeface="Calibri" pitchFamily="34" charset="0"/>
                <a:ea typeface="Calibri" pitchFamily="34" charset="-122"/>
                <a:cs typeface="Calibri" pitchFamily="34" charset="-120"/>
              </a:rPr>
              <a:t>Borrowed audience</a:t>
            </a:r>
            <a:endParaRPr lang="en-US" sz="1100" dirty="0"/>
          </a:p>
        </p:txBody>
      </p:sp>
      <p:sp>
        <p:nvSpPr>
          <p:cNvPr id="27" name="Text 25"/>
          <p:cNvSpPr/>
          <p:nvPr/>
        </p:nvSpPr>
        <p:spPr>
          <a:xfrm>
            <a:off x="5486400" y="4288536"/>
            <a:ext cx="5989320" cy="548640"/>
          </a:xfrm>
          <a:prstGeom prst="rect">
            <a:avLst/>
          </a:prstGeom>
          <a:noFill/>
          <a:ln/>
        </p:spPr>
        <p:txBody>
          <a:bodyPr wrap="square" rtlCol="0" anchor="ctr"/>
          <a:lstStyle/>
          <a:p>
            <a:pPr marL="0" indent="0">
              <a:lnSpc>
                <a:spcPts val="1300"/>
              </a:lnSpc>
              <a:buNone/>
            </a:pPr>
            <a:r>
              <a:rPr lang="en-US" sz="1150" dirty="0">
                <a:solidFill>
                  <a:srgbClr val="565D60"/>
                </a:solidFill>
                <a:latin typeface="Calibri" pitchFamily="34" charset="0"/>
                <a:ea typeface="Calibri" pitchFamily="34" charset="-122"/>
                <a:cs typeface="Calibri" pitchFamily="34" charset="-120"/>
              </a:rPr>
              <a:t>Guest slots on Spanish/EU networking podcasts; cross-promotion with NetBCN, RedIRIS, ESNOG, NAF</a:t>
            </a:r>
            <a:endParaRPr lang="en-US" sz="1150" dirty="0"/>
          </a:p>
        </p:txBody>
      </p:sp>
      <p:sp>
        <p:nvSpPr>
          <p:cNvPr id="28" name="Shape 26"/>
          <p:cNvSpPr/>
          <p:nvPr/>
        </p:nvSpPr>
        <p:spPr>
          <a:xfrm>
            <a:off x="548640" y="4965192"/>
            <a:ext cx="11109960" cy="694944"/>
          </a:xfrm>
          <a:prstGeom prst="roundRect">
            <a:avLst>
              <a:gd name="adj" fmla="val 7895"/>
            </a:avLst>
          </a:prstGeom>
          <a:solidFill>
            <a:srgbClr val="F4F5F5"/>
          </a:solidFill>
          <a:ln w="6350">
            <a:solidFill>
              <a:srgbClr val="B7C0C3"/>
            </a:solidFill>
            <a:prstDash val="solid"/>
          </a:ln>
        </p:spPr>
        <p:txBody>
          <a:bodyPr/>
          <a:lstStyle/>
          <a:p>
            <a:endParaRPr lang="en-US"/>
          </a:p>
        </p:txBody>
      </p:sp>
      <p:sp>
        <p:nvSpPr>
          <p:cNvPr id="29" name="Shape 27"/>
          <p:cNvSpPr/>
          <p:nvPr/>
        </p:nvSpPr>
        <p:spPr>
          <a:xfrm>
            <a:off x="749808" y="5175504"/>
            <a:ext cx="274320" cy="274320"/>
          </a:xfrm>
          <a:prstGeom prst="ellipse">
            <a:avLst/>
          </a:prstGeom>
          <a:solidFill>
            <a:srgbClr val="D9600B"/>
          </a:solidFill>
          <a:ln/>
        </p:spPr>
        <p:txBody>
          <a:bodyPr/>
          <a:lstStyle/>
          <a:p>
            <a:endParaRPr lang="en-US"/>
          </a:p>
        </p:txBody>
      </p:sp>
      <p:sp>
        <p:nvSpPr>
          <p:cNvPr id="30" name="Text 28"/>
          <p:cNvSpPr/>
          <p:nvPr/>
        </p:nvSpPr>
        <p:spPr>
          <a:xfrm>
            <a:off x="749808" y="5175504"/>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1188720" y="5038344"/>
            <a:ext cx="2468880" cy="548640"/>
          </a:xfrm>
          <a:prstGeom prst="rect">
            <a:avLst/>
          </a:prstGeom>
          <a:noFill/>
          <a:ln/>
        </p:spPr>
        <p:txBody>
          <a:bodyPr wrap="square" rtlCol="0" anchor="ctr"/>
          <a:lstStyle/>
          <a:p>
            <a:pPr marL="0" indent="0">
              <a:buNone/>
            </a:pPr>
            <a:r>
              <a:rPr lang="en-US" sz="1350" b="1" dirty="0">
                <a:solidFill>
                  <a:srgbClr val="24282A"/>
                </a:solidFill>
                <a:latin typeface="Cambria" pitchFamily="34" charset="0"/>
                <a:ea typeface="Cambria" pitchFamily="34" charset="-122"/>
                <a:cs typeface="Cambria" pitchFamily="34" charset="-120"/>
              </a:rPr>
              <a:t>Company champions</a:t>
            </a:r>
            <a:endParaRPr lang="en-US" sz="1350" dirty="0"/>
          </a:p>
        </p:txBody>
      </p:sp>
      <p:sp>
        <p:nvSpPr>
          <p:cNvPr id="32" name="Text 30"/>
          <p:cNvSpPr/>
          <p:nvPr/>
        </p:nvSpPr>
        <p:spPr>
          <a:xfrm>
            <a:off x="3703320" y="5038344"/>
            <a:ext cx="1737360" cy="548640"/>
          </a:xfrm>
          <a:prstGeom prst="rect">
            <a:avLst/>
          </a:prstGeom>
          <a:noFill/>
          <a:ln/>
        </p:spPr>
        <p:txBody>
          <a:bodyPr wrap="square" rtlCol="0" anchor="ctr"/>
          <a:lstStyle/>
          <a:p>
            <a:pPr marL="0" indent="0">
              <a:buNone/>
            </a:pPr>
            <a:r>
              <a:rPr lang="en-US" sz="1100" i="1" dirty="0">
                <a:solidFill>
                  <a:srgbClr val="A84708"/>
                </a:solidFill>
                <a:latin typeface="Calibri" pitchFamily="34" charset="0"/>
                <a:ea typeface="Calibri" pitchFamily="34" charset="-122"/>
                <a:cs typeface="Calibri" pitchFamily="34" charset="-120"/>
              </a:rPr>
              <a:t>Word of mouth</a:t>
            </a:r>
            <a:endParaRPr lang="en-US" sz="1100" dirty="0"/>
          </a:p>
        </p:txBody>
      </p:sp>
      <p:sp>
        <p:nvSpPr>
          <p:cNvPr id="33" name="Text 31"/>
          <p:cNvSpPr/>
          <p:nvPr/>
        </p:nvSpPr>
        <p:spPr>
          <a:xfrm>
            <a:off x="5486400" y="5038344"/>
            <a:ext cx="5989320" cy="548640"/>
          </a:xfrm>
          <a:prstGeom prst="rect">
            <a:avLst/>
          </a:prstGeom>
          <a:noFill/>
          <a:ln/>
        </p:spPr>
        <p:txBody>
          <a:bodyPr wrap="square" rtlCol="0" anchor="ctr"/>
          <a:lstStyle/>
          <a:p>
            <a:pPr marL="0" indent="0">
              <a:lnSpc>
                <a:spcPts val="1300"/>
              </a:lnSpc>
              <a:buNone/>
            </a:pPr>
            <a:r>
              <a:rPr lang="en-US" sz="1150" dirty="0">
                <a:solidFill>
                  <a:srgbClr val="565D60"/>
                </a:solidFill>
                <a:latin typeface="Calibri" pitchFamily="34" charset="0"/>
                <a:ea typeface="Calibri" pitchFamily="34" charset="-122"/>
                <a:cs typeface="Calibri" pitchFamily="34" charset="-120"/>
              </a:rPr>
              <a:t>Ask each host company to invite their own engineers — personal invites outperform cold posts</a:t>
            </a:r>
            <a:endParaRPr lang="en-US" sz="1150" dirty="0"/>
          </a:p>
        </p:txBody>
      </p:sp>
      <p:sp>
        <p:nvSpPr>
          <p:cNvPr id="34" name="Shape 32"/>
          <p:cNvSpPr/>
          <p:nvPr/>
        </p:nvSpPr>
        <p:spPr>
          <a:xfrm>
            <a:off x="548640" y="5715000"/>
            <a:ext cx="11109960" cy="694944"/>
          </a:xfrm>
          <a:prstGeom prst="roundRect">
            <a:avLst>
              <a:gd name="adj" fmla="val 7895"/>
            </a:avLst>
          </a:prstGeom>
          <a:solidFill>
            <a:srgbClr val="FFFFFF"/>
          </a:solidFill>
          <a:ln w="6350">
            <a:solidFill>
              <a:srgbClr val="B7C0C3"/>
            </a:solidFill>
            <a:prstDash val="solid"/>
          </a:ln>
        </p:spPr>
        <p:txBody>
          <a:bodyPr/>
          <a:lstStyle/>
          <a:p>
            <a:endParaRPr lang="en-US"/>
          </a:p>
        </p:txBody>
      </p:sp>
      <p:sp>
        <p:nvSpPr>
          <p:cNvPr id="35" name="Shape 33"/>
          <p:cNvSpPr/>
          <p:nvPr/>
        </p:nvSpPr>
        <p:spPr>
          <a:xfrm>
            <a:off x="749808" y="5925312"/>
            <a:ext cx="274320" cy="274320"/>
          </a:xfrm>
          <a:prstGeom prst="ellipse">
            <a:avLst/>
          </a:prstGeom>
          <a:solidFill>
            <a:srgbClr val="D9600B"/>
          </a:solidFill>
          <a:ln/>
        </p:spPr>
        <p:txBody>
          <a:bodyPr/>
          <a:lstStyle/>
          <a:p>
            <a:endParaRPr lang="en-US"/>
          </a:p>
        </p:txBody>
      </p:sp>
      <p:sp>
        <p:nvSpPr>
          <p:cNvPr id="36" name="Text 34"/>
          <p:cNvSpPr/>
          <p:nvPr/>
        </p:nvSpPr>
        <p:spPr>
          <a:xfrm>
            <a:off x="749808" y="5925312"/>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1188720" y="5788152"/>
            <a:ext cx="2468880" cy="548640"/>
          </a:xfrm>
          <a:prstGeom prst="rect">
            <a:avLst/>
          </a:prstGeom>
          <a:noFill/>
          <a:ln/>
        </p:spPr>
        <p:txBody>
          <a:bodyPr wrap="square" rtlCol="0" anchor="ctr"/>
          <a:lstStyle/>
          <a:p>
            <a:pPr marL="0" indent="0">
              <a:buNone/>
            </a:pPr>
            <a:r>
              <a:rPr lang="en-US" sz="1350" b="1" dirty="0">
                <a:solidFill>
                  <a:srgbClr val="24282A"/>
                </a:solidFill>
                <a:latin typeface="Cambria" pitchFamily="34" charset="0"/>
                <a:ea typeface="Cambria" pitchFamily="34" charset="-122"/>
                <a:cs typeface="Cambria" pitchFamily="34" charset="-120"/>
              </a:rPr>
              <a:t>Press &amp; local tech media</a:t>
            </a:r>
            <a:endParaRPr lang="en-US" sz="1350" dirty="0"/>
          </a:p>
        </p:txBody>
      </p:sp>
      <p:sp>
        <p:nvSpPr>
          <p:cNvPr id="38" name="Text 36"/>
          <p:cNvSpPr/>
          <p:nvPr/>
        </p:nvSpPr>
        <p:spPr>
          <a:xfrm>
            <a:off x="3703320" y="5788152"/>
            <a:ext cx="1737360" cy="548640"/>
          </a:xfrm>
          <a:prstGeom prst="rect">
            <a:avLst/>
          </a:prstGeom>
          <a:noFill/>
          <a:ln/>
        </p:spPr>
        <p:txBody>
          <a:bodyPr wrap="square" rtlCol="0" anchor="ctr"/>
          <a:lstStyle/>
          <a:p>
            <a:pPr marL="0" indent="0">
              <a:buNone/>
            </a:pPr>
            <a:r>
              <a:rPr lang="en-US" sz="1100" i="1" dirty="0">
                <a:solidFill>
                  <a:srgbClr val="A84708"/>
                </a:solidFill>
                <a:latin typeface="Calibri" pitchFamily="34" charset="0"/>
                <a:ea typeface="Calibri" pitchFamily="34" charset="-122"/>
                <a:cs typeface="Calibri" pitchFamily="34" charset="-120"/>
              </a:rPr>
              <a:t>Credibility</a:t>
            </a:r>
            <a:endParaRPr lang="en-US" sz="1100" dirty="0"/>
          </a:p>
        </p:txBody>
      </p:sp>
      <p:sp>
        <p:nvSpPr>
          <p:cNvPr id="39" name="Text 37"/>
          <p:cNvSpPr/>
          <p:nvPr/>
        </p:nvSpPr>
        <p:spPr>
          <a:xfrm>
            <a:off x="5486400" y="5788152"/>
            <a:ext cx="5989320" cy="548640"/>
          </a:xfrm>
          <a:prstGeom prst="rect">
            <a:avLst/>
          </a:prstGeom>
          <a:noFill/>
          <a:ln/>
        </p:spPr>
        <p:txBody>
          <a:bodyPr wrap="square" rtlCol="0" anchor="ctr"/>
          <a:lstStyle/>
          <a:p>
            <a:pPr marL="0" indent="0">
              <a:lnSpc>
                <a:spcPts val="1300"/>
              </a:lnSpc>
              <a:buNone/>
            </a:pPr>
            <a:r>
              <a:rPr lang="en-US" sz="1150" dirty="0">
                <a:solidFill>
                  <a:srgbClr val="565D60"/>
                </a:solidFill>
                <a:latin typeface="Calibri" pitchFamily="34" charset="0"/>
                <a:ea typeface="Calibri" pitchFamily="34" charset="-122"/>
                <a:cs typeface="Calibri" pitchFamily="34" charset="-120"/>
              </a:rPr>
              <a:t>Short recap sent to Spanish tech outlets (Genbeta, ITDigitalSecurity) once there's a first event to point to</a:t>
            </a:r>
            <a:endParaRPr lang="en-US" sz="1150" dirty="0"/>
          </a:p>
        </p:txBody>
      </p:sp>
      <p:sp>
        <p:nvSpPr>
          <p:cNvPr id="40" name="Text 38"/>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7C8689"/>
                </a:solidFill>
                <a:latin typeface="Calibri" pitchFamily="34" charset="0"/>
                <a:ea typeface="Calibri" pitchFamily="34" charset="-122"/>
                <a:cs typeface="Calibri" pitchFamily="34" charset="-120"/>
              </a:rPr>
              <a:t>08</a:t>
            </a:r>
            <a:endParaRPr lang="en-US" sz="1000" dirty="0"/>
          </a:p>
        </p:txBody>
      </p:sp>
      <p:pic>
        <p:nvPicPr>
          <p:cNvPr id="41" name="Picture 40">
            <a:extLst>
              <a:ext uri="{FF2B5EF4-FFF2-40B4-BE49-F238E27FC236}">
                <a16:creationId xmlns:a16="http://schemas.microsoft.com/office/drawing/2014/main" id="{FC4644D5-CBBD-A9F3-783B-4B3558D15615}"/>
              </a:ext>
            </a:extLst>
          </p:cNvPr>
          <p:cNvPicPr>
            <a:picLocks noChangeAspect="1"/>
          </p:cNvPicPr>
          <p:nvPr/>
        </p:nvPicPr>
        <p:blipFill>
          <a:blip r:embed="rId3">
            <a:alphaModFix amt="20000"/>
          </a:blip>
          <a:stretch>
            <a:fillRect/>
          </a:stretch>
        </p:blipFill>
        <p:spPr>
          <a:xfrm rot="13521678">
            <a:off x="10581708" y="216126"/>
            <a:ext cx="1860102" cy="9290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5"/>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D9600B"/>
                </a:solidFill>
                <a:latin typeface="Calibri" pitchFamily="34" charset="0"/>
                <a:ea typeface="Calibri" pitchFamily="34" charset="-122"/>
                <a:cs typeface="Calibri" pitchFamily="34" charset="-120"/>
              </a:rPr>
              <a:t>TIMELINE</a:t>
            </a:r>
            <a:endParaRPr lang="en-US" sz="12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24282A"/>
                </a:solidFill>
                <a:latin typeface="Cambria" pitchFamily="34" charset="0"/>
                <a:ea typeface="Cambria" pitchFamily="34" charset="-122"/>
                <a:cs typeface="Cambria" pitchFamily="34" charset="-120"/>
              </a:rPr>
              <a:t>The first 90 days</a:t>
            </a:r>
            <a:endParaRPr lang="en-US" sz="3200" dirty="0"/>
          </a:p>
        </p:txBody>
      </p:sp>
      <p:sp>
        <p:nvSpPr>
          <p:cNvPr id="4" name="Shape 2"/>
          <p:cNvSpPr/>
          <p:nvPr/>
        </p:nvSpPr>
        <p:spPr>
          <a:xfrm>
            <a:off x="960120" y="3291840"/>
            <a:ext cx="10195560" cy="0"/>
          </a:xfrm>
          <a:prstGeom prst="line">
            <a:avLst/>
          </a:prstGeom>
          <a:noFill/>
          <a:ln w="25400">
            <a:solidFill>
              <a:srgbClr val="B7C0C3"/>
            </a:solidFill>
            <a:prstDash val="solid"/>
          </a:ln>
        </p:spPr>
        <p:txBody>
          <a:bodyPr/>
          <a:lstStyle/>
          <a:p>
            <a:endParaRPr lang="en-US"/>
          </a:p>
        </p:txBody>
      </p:sp>
      <p:sp>
        <p:nvSpPr>
          <p:cNvPr id="5" name="Shape 3"/>
          <p:cNvSpPr/>
          <p:nvPr/>
        </p:nvSpPr>
        <p:spPr>
          <a:xfrm>
            <a:off x="859536" y="3191256"/>
            <a:ext cx="201168" cy="201168"/>
          </a:xfrm>
          <a:prstGeom prst="ellipse">
            <a:avLst/>
          </a:prstGeom>
          <a:solidFill>
            <a:srgbClr val="D9600B"/>
          </a:solidFill>
          <a:ln w="25400">
            <a:solidFill>
              <a:srgbClr val="FFFFFF"/>
            </a:solidFill>
            <a:prstDash val="solid"/>
          </a:ln>
        </p:spPr>
        <p:txBody>
          <a:bodyPr/>
          <a:lstStyle/>
          <a:p>
            <a:endParaRPr lang="en-US"/>
          </a:p>
        </p:txBody>
      </p:sp>
      <p:sp>
        <p:nvSpPr>
          <p:cNvPr id="6" name="Shape 4"/>
          <p:cNvSpPr/>
          <p:nvPr/>
        </p:nvSpPr>
        <p:spPr>
          <a:xfrm>
            <a:off x="960120" y="2926080"/>
            <a:ext cx="0" cy="265176"/>
          </a:xfrm>
          <a:prstGeom prst="line">
            <a:avLst/>
          </a:prstGeom>
          <a:noFill/>
          <a:ln w="12700">
            <a:solidFill>
              <a:srgbClr val="B7C0C3"/>
            </a:solidFill>
            <a:prstDash val="dash"/>
          </a:ln>
        </p:spPr>
        <p:txBody>
          <a:bodyPr/>
          <a:lstStyle/>
          <a:p>
            <a:endParaRPr lang="en-US"/>
          </a:p>
        </p:txBody>
      </p:sp>
      <p:sp>
        <p:nvSpPr>
          <p:cNvPr id="7" name="Text 5"/>
          <p:cNvSpPr/>
          <p:nvPr/>
        </p:nvSpPr>
        <p:spPr>
          <a:xfrm>
            <a:off x="320040" y="1874520"/>
            <a:ext cx="1874520" cy="274320"/>
          </a:xfrm>
          <a:prstGeom prst="rect">
            <a:avLst/>
          </a:prstGeom>
          <a:noFill/>
          <a:ln/>
        </p:spPr>
        <p:txBody>
          <a:bodyPr wrap="square" rtlCol="0" anchor="ctr"/>
          <a:lstStyle/>
          <a:p>
            <a:pPr marL="0" indent="0" algn="ctr">
              <a:buNone/>
            </a:pPr>
            <a:r>
              <a:rPr lang="en-US" sz="1150" b="1" dirty="0">
                <a:solidFill>
                  <a:srgbClr val="A84708"/>
                </a:solidFill>
                <a:latin typeface="Calibri" pitchFamily="34" charset="0"/>
                <a:ea typeface="Calibri" pitchFamily="34" charset="-122"/>
                <a:cs typeface="Calibri" pitchFamily="34" charset="-120"/>
              </a:rPr>
              <a:t>Weeks 1–2</a:t>
            </a:r>
            <a:endParaRPr lang="en-US" sz="1150" dirty="0"/>
          </a:p>
        </p:txBody>
      </p:sp>
      <p:sp>
        <p:nvSpPr>
          <p:cNvPr id="8" name="Text 6"/>
          <p:cNvSpPr/>
          <p:nvPr/>
        </p:nvSpPr>
        <p:spPr>
          <a:xfrm>
            <a:off x="320040" y="2167128"/>
            <a:ext cx="1874520" cy="731520"/>
          </a:xfrm>
          <a:prstGeom prst="rect">
            <a:avLst/>
          </a:prstGeom>
          <a:noFill/>
          <a:ln/>
        </p:spPr>
        <p:txBody>
          <a:bodyPr wrap="square" rtlCol="0" anchor="ctr"/>
          <a:lstStyle/>
          <a:p>
            <a:pPr marL="0" indent="0" algn="ctr">
              <a:lnSpc>
                <a:spcPts val="1200"/>
              </a:lnSpc>
              <a:buNone/>
            </a:pPr>
            <a:r>
              <a:rPr lang="en-US" sz="1050" dirty="0">
                <a:solidFill>
                  <a:srgbClr val="24282A"/>
                </a:solidFill>
                <a:latin typeface="Calibri" pitchFamily="34" charset="0"/>
                <a:ea typeface="Calibri" pitchFamily="34" charset="-122"/>
                <a:cs typeface="Calibri" pitchFamily="34" charset="-120"/>
              </a:rPr>
              <a:t>Form core team &amp; pick the name/brand</a:t>
            </a:r>
            <a:endParaRPr lang="en-US" sz="1050" dirty="0"/>
          </a:p>
        </p:txBody>
      </p:sp>
      <p:sp>
        <p:nvSpPr>
          <p:cNvPr id="9" name="Shape 7"/>
          <p:cNvSpPr/>
          <p:nvPr/>
        </p:nvSpPr>
        <p:spPr>
          <a:xfrm>
            <a:off x="2898648" y="3191256"/>
            <a:ext cx="201168" cy="201168"/>
          </a:xfrm>
          <a:prstGeom prst="ellipse">
            <a:avLst/>
          </a:prstGeom>
          <a:solidFill>
            <a:srgbClr val="D9600B"/>
          </a:solidFill>
          <a:ln w="25400">
            <a:solidFill>
              <a:srgbClr val="FFFFFF"/>
            </a:solidFill>
            <a:prstDash val="solid"/>
          </a:ln>
        </p:spPr>
        <p:txBody>
          <a:bodyPr/>
          <a:lstStyle/>
          <a:p>
            <a:endParaRPr lang="en-US"/>
          </a:p>
        </p:txBody>
      </p:sp>
      <p:sp>
        <p:nvSpPr>
          <p:cNvPr id="10" name="Shape 8"/>
          <p:cNvSpPr/>
          <p:nvPr/>
        </p:nvSpPr>
        <p:spPr>
          <a:xfrm>
            <a:off x="2999232" y="3392424"/>
            <a:ext cx="0" cy="173736"/>
          </a:xfrm>
          <a:prstGeom prst="line">
            <a:avLst/>
          </a:prstGeom>
          <a:noFill/>
          <a:ln w="12700">
            <a:solidFill>
              <a:srgbClr val="B7C0C3"/>
            </a:solidFill>
            <a:prstDash val="dash"/>
          </a:ln>
        </p:spPr>
        <p:txBody>
          <a:bodyPr/>
          <a:lstStyle/>
          <a:p>
            <a:endParaRPr lang="en-US"/>
          </a:p>
        </p:txBody>
      </p:sp>
      <p:sp>
        <p:nvSpPr>
          <p:cNvPr id="11" name="Text 9"/>
          <p:cNvSpPr/>
          <p:nvPr/>
        </p:nvSpPr>
        <p:spPr>
          <a:xfrm>
            <a:off x="2061972" y="3566160"/>
            <a:ext cx="1874520" cy="274320"/>
          </a:xfrm>
          <a:prstGeom prst="rect">
            <a:avLst/>
          </a:prstGeom>
          <a:noFill/>
          <a:ln/>
        </p:spPr>
        <p:txBody>
          <a:bodyPr wrap="square" rtlCol="0" anchor="ctr"/>
          <a:lstStyle/>
          <a:p>
            <a:pPr marL="0" indent="0" algn="ctr">
              <a:buNone/>
            </a:pPr>
            <a:r>
              <a:rPr lang="en-US" sz="1150" b="1" dirty="0">
                <a:solidFill>
                  <a:srgbClr val="A84708"/>
                </a:solidFill>
                <a:latin typeface="Calibri" pitchFamily="34" charset="0"/>
                <a:ea typeface="Calibri" pitchFamily="34" charset="-122"/>
                <a:cs typeface="Calibri" pitchFamily="34" charset="-120"/>
              </a:rPr>
              <a:t>Weeks 3–4</a:t>
            </a:r>
            <a:endParaRPr lang="en-US" sz="1150" dirty="0"/>
          </a:p>
        </p:txBody>
      </p:sp>
      <p:sp>
        <p:nvSpPr>
          <p:cNvPr id="12" name="Text 10"/>
          <p:cNvSpPr/>
          <p:nvPr/>
        </p:nvSpPr>
        <p:spPr>
          <a:xfrm>
            <a:off x="2061972" y="3858768"/>
            <a:ext cx="1874520" cy="731520"/>
          </a:xfrm>
          <a:prstGeom prst="rect">
            <a:avLst/>
          </a:prstGeom>
          <a:noFill/>
          <a:ln/>
        </p:spPr>
        <p:txBody>
          <a:bodyPr wrap="square" rtlCol="0" anchor="ctr"/>
          <a:lstStyle/>
          <a:p>
            <a:pPr marL="0" indent="0" algn="ctr">
              <a:lnSpc>
                <a:spcPts val="1200"/>
              </a:lnSpc>
              <a:buNone/>
            </a:pPr>
            <a:r>
              <a:rPr lang="en-US" sz="1050" dirty="0">
                <a:solidFill>
                  <a:srgbClr val="24282A"/>
                </a:solidFill>
                <a:latin typeface="Calibri" pitchFamily="34" charset="0"/>
                <a:ea typeface="Calibri" pitchFamily="34" charset="-122"/>
                <a:cs typeface="Calibri" pitchFamily="34" charset="-120"/>
              </a:rPr>
              <a:t>Stand up Discord, LinkedIn, simple site</a:t>
            </a:r>
            <a:endParaRPr lang="en-US" sz="1050" dirty="0"/>
          </a:p>
        </p:txBody>
      </p:sp>
      <p:sp>
        <p:nvSpPr>
          <p:cNvPr id="13" name="Shape 11"/>
          <p:cNvSpPr/>
          <p:nvPr/>
        </p:nvSpPr>
        <p:spPr>
          <a:xfrm>
            <a:off x="4937760" y="3191256"/>
            <a:ext cx="201168" cy="201168"/>
          </a:xfrm>
          <a:prstGeom prst="ellipse">
            <a:avLst/>
          </a:prstGeom>
          <a:solidFill>
            <a:srgbClr val="D9600B"/>
          </a:solidFill>
          <a:ln w="25400">
            <a:solidFill>
              <a:srgbClr val="FFFFFF"/>
            </a:solidFill>
            <a:prstDash val="solid"/>
          </a:ln>
        </p:spPr>
        <p:txBody>
          <a:bodyPr/>
          <a:lstStyle/>
          <a:p>
            <a:endParaRPr lang="en-US"/>
          </a:p>
        </p:txBody>
      </p:sp>
      <p:sp>
        <p:nvSpPr>
          <p:cNvPr id="14" name="Shape 12"/>
          <p:cNvSpPr/>
          <p:nvPr/>
        </p:nvSpPr>
        <p:spPr>
          <a:xfrm>
            <a:off x="5038344" y="2926080"/>
            <a:ext cx="0" cy="265176"/>
          </a:xfrm>
          <a:prstGeom prst="line">
            <a:avLst/>
          </a:prstGeom>
          <a:noFill/>
          <a:ln w="12700">
            <a:solidFill>
              <a:srgbClr val="B7C0C3"/>
            </a:solidFill>
            <a:prstDash val="dash"/>
          </a:ln>
        </p:spPr>
        <p:txBody>
          <a:bodyPr/>
          <a:lstStyle/>
          <a:p>
            <a:endParaRPr lang="en-US"/>
          </a:p>
        </p:txBody>
      </p:sp>
      <p:sp>
        <p:nvSpPr>
          <p:cNvPr id="15" name="Text 13"/>
          <p:cNvSpPr/>
          <p:nvPr/>
        </p:nvSpPr>
        <p:spPr>
          <a:xfrm>
            <a:off x="4101084" y="1874520"/>
            <a:ext cx="1874520" cy="274320"/>
          </a:xfrm>
          <a:prstGeom prst="rect">
            <a:avLst/>
          </a:prstGeom>
          <a:noFill/>
          <a:ln/>
        </p:spPr>
        <p:txBody>
          <a:bodyPr wrap="square" rtlCol="0" anchor="ctr"/>
          <a:lstStyle/>
          <a:p>
            <a:pPr marL="0" indent="0" algn="ctr">
              <a:buNone/>
            </a:pPr>
            <a:r>
              <a:rPr lang="en-US" sz="1150" b="1" dirty="0">
                <a:solidFill>
                  <a:srgbClr val="A84708"/>
                </a:solidFill>
                <a:latin typeface="Calibri" pitchFamily="34" charset="0"/>
                <a:ea typeface="Calibri" pitchFamily="34" charset="-122"/>
                <a:cs typeface="Calibri" pitchFamily="34" charset="-120"/>
              </a:rPr>
              <a:t>Weeks 5–6</a:t>
            </a:r>
            <a:endParaRPr lang="en-US" sz="1150" dirty="0"/>
          </a:p>
        </p:txBody>
      </p:sp>
      <p:sp>
        <p:nvSpPr>
          <p:cNvPr id="16" name="Text 14"/>
          <p:cNvSpPr/>
          <p:nvPr/>
        </p:nvSpPr>
        <p:spPr>
          <a:xfrm>
            <a:off x="4101084" y="2167128"/>
            <a:ext cx="1874520" cy="731520"/>
          </a:xfrm>
          <a:prstGeom prst="rect">
            <a:avLst/>
          </a:prstGeom>
          <a:noFill/>
          <a:ln/>
        </p:spPr>
        <p:txBody>
          <a:bodyPr wrap="square" rtlCol="0" anchor="ctr"/>
          <a:lstStyle/>
          <a:p>
            <a:pPr marL="0" indent="0" algn="ctr">
              <a:lnSpc>
                <a:spcPts val="1200"/>
              </a:lnSpc>
              <a:buNone/>
            </a:pPr>
            <a:r>
              <a:rPr lang="en-US" sz="1050" dirty="0">
                <a:solidFill>
                  <a:srgbClr val="24282A"/>
                </a:solidFill>
                <a:latin typeface="Calibri" pitchFamily="34" charset="0"/>
                <a:ea typeface="Calibri" pitchFamily="34" charset="-122"/>
                <a:cs typeface="Calibri" pitchFamily="34" charset="-120"/>
              </a:rPr>
              <a:t>Secure venue + confirm 2–3 speakers</a:t>
            </a:r>
            <a:endParaRPr lang="en-US" sz="1050" dirty="0"/>
          </a:p>
        </p:txBody>
      </p:sp>
      <p:sp>
        <p:nvSpPr>
          <p:cNvPr id="17" name="Shape 15"/>
          <p:cNvSpPr/>
          <p:nvPr/>
        </p:nvSpPr>
        <p:spPr>
          <a:xfrm>
            <a:off x="6976872" y="3191256"/>
            <a:ext cx="201168" cy="201168"/>
          </a:xfrm>
          <a:prstGeom prst="ellipse">
            <a:avLst/>
          </a:prstGeom>
          <a:solidFill>
            <a:srgbClr val="D9600B"/>
          </a:solidFill>
          <a:ln w="25400">
            <a:solidFill>
              <a:srgbClr val="FFFFFF"/>
            </a:solidFill>
            <a:prstDash val="solid"/>
          </a:ln>
        </p:spPr>
        <p:txBody>
          <a:bodyPr/>
          <a:lstStyle/>
          <a:p>
            <a:endParaRPr lang="en-US"/>
          </a:p>
        </p:txBody>
      </p:sp>
      <p:sp>
        <p:nvSpPr>
          <p:cNvPr id="18" name="Shape 16"/>
          <p:cNvSpPr/>
          <p:nvPr/>
        </p:nvSpPr>
        <p:spPr>
          <a:xfrm>
            <a:off x="7077456" y="3392424"/>
            <a:ext cx="0" cy="173736"/>
          </a:xfrm>
          <a:prstGeom prst="line">
            <a:avLst/>
          </a:prstGeom>
          <a:noFill/>
          <a:ln w="12700">
            <a:solidFill>
              <a:srgbClr val="B7C0C3"/>
            </a:solidFill>
            <a:prstDash val="dash"/>
          </a:ln>
        </p:spPr>
        <p:txBody>
          <a:bodyPr/>
          <a:lstStyle/>
          <a:p>
            <a:endParaRPr lang="en-US"/>
          </a:p>
        </p:txBody>
      </p:sp>
      <p:sp>
        <p:nvSpPr>
          <p:cNvPr id="19" name="Text 17"/>
          <p:cNvSpPr/>
          <p:nvPr/>
        </p:nvSpPr>
        <p:spPr>
          <a:xfrm>
            <a:off x="6140196" y="3566160"/>
            <a:ext cx="1874520" cy="274320"/>
          </a:xfrm>
          <a:prstGeom prst="rect">
            <a:avLst/>
          </a:prstGeom>
          <a:noFill/>
          <a:ln/>
        </p:spPr>
        <p:txBody>
          <a:bodyPr wrap="square" rtlCol="0" anchor="ctr"/>
          <a:lstStyle/>
          <a:p>
            <a:pPr marL="0" indent="0" algn="ctr">
              <a:buNone/>
            </a:pPr>
            <a:r>
              <a:rPr lang="en-US" sz="1150" b="1" dirty="0">
                <a:solidFill>
                  <a:srgbClr val="A84708"/>
                </a:solidFill>
                <a:latin typeface="Calibri" pitchFamily="34" charset="0"/>
                <a:ea typeface="Calibri" pitchFamily="34" charset="-122"/>
                <a:cs typeface="Calibri" pitchFamily="34" charset="-120"/>
              </a:rPr>
              <a:t>Weeks 7–8</a:t>
            </a:r>
            <a:endParaRPr lang="en-US" sz="1150" dirty="0"/>
          </a:p>
        </p:txBody>
      </p:sp>
      <p:sp>
        <p:nvSpPr>
          <p:cNvPr id="20" name="Text 18"/>
          <p:cNvSpPr/>
          <p:nvPr/>
        </p:nvSpPr>
        <p:spPr>
          <a:xfrm>
            <a:off x="6140196" y="3858768"/>
            <a:ext cx="1874520" cy="731520"/>
          </a:xfrm>
          <a:prstGeom prst="rect">
            <a:avLst/>
          </a:prstGeom>
          <a:noFill/>
          <a:ln/>
        </p:spPr>
        <p:txBody>
          <a:bodyPr wrap="square" rtlCol="0" anchor="ctr"/>
          <a:lstStyle/>
          <a:p>
            <a:pPr marL="0" indent="0" algn="ctr">
              <a:lnSpc>
                <a:spcPts val="1200"/>
              </a:lnSpc>
              <a:buNone/>
            </a:pPr>
            <a:r>
              <a:rPr lang="en-US" sz="1050" dirty="0">
                <a:solidFill>
                  <a:srgbClr val="24282A"/>
                </a:solidFill>
                <a:latin typeface="Calibri" pitchFamily="34" charset="0"/>
                <a:ea typeface="Calibri" pitchFamily="34" charset="-122"/>
                <a:cs typeface="Calibri" pitchFamily="34" charset="-120"/>
              </a:rPr>
              <a:t>Open registration, invite personally, line up sponsor(s)</a:t>
            </a:r>
            <a:endParaRPr lang="en-US" sz="1050" dirty="0"/>
          </a:p>
        </p:txBody>
      </p:sp>
      <p:sp>
        <p:nvSpPr>
          <p:cNvPr id="21" name="Shape 19"/>
          <p:cNvSpPr/>
          <p:nvPr/>
        </p:nvSpPr>
        <p:spPr>
          <a:xfrm>
            <a:off x="9015984" y="3191256"/>
            <a:ext cx="201168" cy="201168"/>
          </a:xfrm>
          <a:prstGeom prst="ellipse">
            <a:avLst/>
          </a:prstGeom>
          <a:solidFill>
            <a:srgbClr val="D9600B"/>
          </a:solidFill>
          <a:ln w="25400">
            <a:solidFill>
              <a:srgbClr val="FFFFFF"/>
            </a:solidFill>
            <a:prstDash val="solid"/>
          </a:ln>
        </p:spPr>
        <p:txBody>
          <a:bodyPr/>
          <a:lstStyle/>
          <a:p>
            <a:endParaRPr lang="en-US"/>
          </a:p>
        </p:txBody>
      </p:sp>
      <p:sp>
        <p:nvSpPr>
          <p:cNvPr id="22" name="Shape 20"/>
          <p:cNvSpPr/>
          <p:nvPr/>
        </p:nvSpPr>
        <p:spPr>
          <a:xfrm>
            <a:off x="9116568" y="2926080"/>
            <a:ext cx="0" cy="265176"/>
          </a:xfrm>
          <a:prstGeom prst="line">
            <a:avLst/>
          </a:prstGeom>
          <a:noFill/>
          <a:ln w="12700">
            <a:solidFill>
              <a:srgbClr val="B7C0C3"/>
            </a:solidFill>
            <a:prstDash val="dash"/>
          </a:ln>
        </p:spPr>
        <p:txBody>
          <a:bodyPr/>
          <a:lstStyle/>
          <a:p>
            <a:endParaRPr lang="en-US"/>
          </a:p>
        </p:txBody>
      </p:sp>
      <p:sp>
        <p:nvSpPr>
          <p:cNvPr id="23" name="Text 21"/>
          <p:cNvSpPr/>
          <p:nvPr/>
        </p:nvSpPr>
        <p:spPr>
          <a:xfrm>
            <a:off x="8179308" y="1874520"/>
            <a:ext cx="1874520" cy="274320"/>
          </a:xfrm>
          <a:prstGeom prst="rect">
            <a:avLst/>
          </a:prstGeom>
          <a:noFill/>
          <a:ln/>
        </p:spPr>
        <p:txBody>
          <a:bodyPr wrap="square" rtlCol="0" anchor="ctr"/>
          <a:lstStyle/>
          <a:p>
            <a:pPr marL="0" indent="0" algn="ctr">
              <a:buNone/>
            </a:pPr>
            <a:r>
              <a:rPr lang="en-US" sz="1150" b="1" dirty="0">
                <a:solidFill>
                  <a:srgbClr val="A84708"/>
                </a:solidFill>
                <a:latin typeface="Calibri" pitchFamily="34" charset="0"/>
                <a:ea typeface="Calibri" pitchFamily="34" charset="-122"/>
                <a:cs typeface="Calibri" pitchFamily="34" charset="-120"/>
              </a:rPr>
              <a:t>Week 9</a:t>
            </a:r>
            <a:endParaRPr lang="en-US" sz="1150" dirty="0"/>
          </a:p>
        </p:txBody>
      </p:sp>
      <p:sp>
        <p:nvSpPr>
          <p:cNvPr id="24" name="Text 22"/>
          <p:cNvSpPr/>
          <p:nvPr/>
        </p:nvSpPr>
        <p:spPr>
          <a:xfrm>
            <a:off x="8179308" y="2167128"/>
            <a:ext cx="1874520" cy="731520"/>
          </a:xfrm>
          <a:prstGeom prst="rect">
            <a:avLst/>
          </a:prstGeom>
          <a:noFill/>
          <a:ln/>
        </p:spPr>
        <p:txBody>
          <a:bodyPr wrap="square" rtlCol="0" anchor="ctr"/>
          <a:lstStyle/>
          <a:p>
            <a:pPr marL="0" indent="0" algn="ctr">
              <a:lnSpc>
                <a:spcPts val="1200"/>
              </a:lnSpc>
              <a:buNone/>
            </a:pPr>
            <a:r>
              <a:rPr lang="en-US" sz="1050" dirty="0">
                <a:solidFill>
                  <a:srgbClr val="24282A"/>
                </a:solidFill>
                <a:latin typeface="Calibri" pitchFamily="34" charset="0"/>
                <a:ea typeface="Calibri" pitchFamily="34" charset="-122"/>
                <a:cs typeface="Calibri" pitchFamily="34" charset="-120"/>
              </a:rPr>
              <a:t>Run NetMAD #1</a:t>
            </a:r>
            <a:endParaRPr lang="en-US" sz="1050" dirty="0"/>
          </a:p>
        </p:txBody>
      </p:sp>
      <p:sp>
        <p:nvSpPr>
          <p:cNvPr id="25" name="Shape 23"/>
          <p:cNvSpPr/>
          <p:nvPr/>
        </p:nvSpPr>
        <p:spPr>
          <a:xfrm>
            <a:off x="11055096" y="3191256"/>
            <a:ext cx="201168" cy="201168"/>
          </a:xfrm>
          <a:prstGeom prst="ellipse">
            <a:avLst/>
          </a:prstGeom>
          <a:solidFill>
            <a:srgbClr val="D9600B"/>
          </a:solidFill>
          <a:ln w="25400">
            <a:solidFill>
              <a:srgbClr val="FFFFFF"/>
            </a:solidFill>
            <a:prstDash val="solid"/>
          </a:ln>
        </p:spPr>
        <p:txBody>
          <a:bodyPr/>
          <a:lstStyle/>
          <a:p>
            <a:endParaRPr lang="en-US"/>
          </a:p>
        </p:txBody>
      </p:sp>
      <p:sp>
        <p:nvSpPr>
          <p:cNvPr id="26" name="Shape 24"/>
          <p:cNvSpPr/>
          <p:nvPr/>
        </p:nvSpPr>
        <p:spPr>
          <a:xfrm>
            <a:off x="11155680" y="3392424"/>
            <a:ext cx="0" cy="173736"/>
          </a:xfrm>
          <a:prstGeom prst="line">
            <a:avLst/>
          </a:prstGeom>
          <a:noFill/>
          <a:ln w="12700">
            <a:solidFill>
              <a:srgbClr val="B7C0C3"/>
            </a:solidFill>
            <a:prstDash val="dash"/>
          </a:ln>
        </p:spPr>
        <p:txBody>
          <a:bodyPr/>
          <a:lstStyle/>
          <a:p>
            <a:endParaRPr lang="en-US"/>
          </a:p>
        </p:txBody>
      </p:sp>
      <p:sp>
        <p:nvSpPr>
          <p:cNvPr id="27" name="Text 25"/>
          <p:cNvSpPr/>
          <p:nvPr/>
        </p:nvSpPr>
        <p:spPr>
          <a:xfrm>
            <a:off x="9997135" y="3566160"/>
            <a:ext cx="1874520" cy="274320"/>
          </a:xfrm>
          <a:prstGeom prst="rect">
            <a:avLst/>
          </a:prstGeom>
          <a:noFill/>
          <a:ln/>
        </p:spPr>
        <p:txBody>
          <a:bodyPr wrap="square" rtlCol="0" anchor="ctr"/>
          <a:lstStyle/>
          <a:p>
            <a:pPr marL="0" indent="0" algn="ctr">
              <a:buNone/>
            </a:pPr>
            <a:r>
              <a:rPr lang="en-US" sz="1150" b="1" dirty="0">
                <a:solidFill>
                  <a:srgbClr val="A84708"/>
                </a:solidFill>
                <a:latin typeface="Calibri" pitchFamily="34" charset="0"/>
                <a:ea typeface="Calibri" pitchFamily="34" charset="-122"/>
                <a:cs typeface="Calibri" pitchFamily="34" charset="-120"/>
              </a:rPr>
              <a:t>Weeks 10–13</a:t>
            </a:r>
            <a:endParaRPr lang="en-US" sz="1150" dirty="0"/>
          </a:p>
        </p:txBody>
      </p:sp>
      <p:sp>
        <p:nvSpPr>
          <p:cNvPr id="28" name="Text 26"/>
          <p:cNvSpPr/>
          <p:nvPr/>
        </p:nvSpPr>
        <p:spPr>
          <a:xfrm>
            <a:off x="9997135" y="3858768"/>
            <a:ext cx="1874520" cy="731520"/>
          </a:xfrm>
          <a:prstGeom prst="rect">
            <a:avLst/>
          </a:prstGeom>
          <a:noFill/>
          <a:ln/>
        </p:spPr>
        <p:txBody>
          <a:bodyPr wrap="square" rtlCol="0" anchor="ctr"/>
          <a:lstStyle/>
          <a:p>
            <a:pPr marL="0" indent="0" algn="ctr">
              <a:lnSpc>
                <a:spcPts val="1200"/>
              </a:lnSpc>
              <a:buNone/>
            </a:pPr>
            <a:r>
              <a:rPr lang="en-US" sz="1050" dirty="0">
                <a:solidFill>
                  <a:srgbClr val="24282A"/>
                </a:solidFill>
                <a:latin typeface="Calibri" pitchFamily="34" charset="0"/>
                <a:ea typeface="Calibri" pitchFamily="34" charset="-122"/>
                <a:cs typeface="Calibri" pitchFamily="34" charset="-120"/>
              </a:rPr>
              <a:t>Publish recap &amp; recordings, plan #2, onboard new volunteers</a:t>
            </a:r>
            <a:endParaRPr lang="en-US" sz="1050" dirty="0"/>
          </a:p>
        </p:txBody>
      </p:sp>
      <p:sp>
        <p:nvSpPr>
          <p:cNvPr id="29" name="Shape 27"/>
          <p:cNvSpPr/>
          <p:nvPr/>
        </p:nvSpPr>
        <p:spPr>
          <a:xfrm>
            <a:off x="822960" y="5394960"/>
            <a:ext cx="10515600" cy="914400"/>
          </a:xfrm>
          <a:prstGeom prst="roundRect">
            <a:avLst>
              <a:gd name="adj" fmla="val 8000"/>
            </a:avLst>
          </a:prstGeom>
          <a:solidFill>
            <a:srgbClr val="272E31"/>
          </a:solidFill>
          <a:ln/>
        </p:spPr>
        <p:txBody>
          <a:bodyPr/>
          <a:lstStyle/>
          <a:p>
            <a:endParaRPr lang="en-US"/>
          </a:p>
        </p:txBody>
      </p:sp>
      <p:sp>
        <p:nvSpPr>
          <p:cNvPr id="30" name="Text 28"/>
          <p:cNvSpPr/>
          <p:nvPr/>
        </p:nvSpPr>
        <p:spPr>
          <a:xfrm>
            <a:off x="1097280" y="5394960"/>
            <a:ext cx="9966960" cy="914400"/>
          </a:xfrm>
          <a:prstGeom prst="rect">
            <a:avLst/>
          </a:prstGeom>
          <a:noFill/>
          <a:ln/>
        </p:spPr>
        <p:txBody>
          <a:bodyPr wrap="square"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Goal for Day 90: one completed event, a 100+ member Discord, and a confirmed date for event #2.</a:t>
            </a:r>
            <a:endParaRPr lang="en-US" sz="1350" dirty="0"/>
          </a:p>
        </p:txBody>
      </p:sp>
      <p:sp>
        <p:nvSpPr>
          <p:cNvPr id="31" name="Text 2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7C8689"/>
                </a:solidFill>
                <a:latin typeface="Calibri" pitchFamily="34" charset="0"/>
                <a:ea typeface="Calibri" pitchFamily="34" charset="-122"/>
                <a:cs typeface="Calibri" pitchFamily="34" charset="-120"/>
              </a:rPr>
              <a:t>09</a:t>
            </a:r>
            <a:endParaRPr lang="en-US" sz="1000" dirty="0"/>
          </a:p>
        </p:txBody>
      </p:sp>
      <p:pic>
        <p:nvPicPr>
          <p:cNvPr id="32" name="Picture 31">
            <a:extLst>
              <a:ext uri="{FF2B5EF4-FFF2-40B4-BE49-F238E27FC236}">
                <a16:creationId xmlns:a16="http://schemas.microsoft.com/office/drawing/2014/main" id="{266B4B84-528C-3797-FC12-58ACFB157D1E}"/>
              </a:ext>
            </a:extLst>
          </p:cNvPr>
          <p:cNvPicPr>
            <a:picLocks noChangeAspect="1"/>
          </p:cNvPicPr>
          <p:nvPr/>
        </p:nvPicPr>
        <p:blipFill>
          <a:blip r:embed="rId3">
            <a:alphaModFix amt="20000"/>
          </a:blip>
          <a:stretch>
            <a:fillRect/>
          </a:stretch>
        </p:blipFill>
        <p:spPr>
          <a:xfrm rot="13521678">
            <a:off x="10581708" y="216126"/>
            <a:ext cx="1860102" cy="9290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D9600B"/>
                </a:solidFill>
                <a:latin typeface="Calibri" pitchFamily="34" charset="0"/>
                <a:ea typeface="Calibri" pitchFamily="34" charset="-122"/>
                <a:cs typeface="Calibri" pitchFamily="34" charset="-120"/>
              </a:rPr>
              <a:t>HOW WE'LL KNOW IT'S WORKING</a:t>
            </a:r>
            <a:endParaRPr lang="en-US" sz="12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marL="0" indent="0">
              <a:buNone/>
            </a:pPr>
            <a:r>
              <a:rPr lang="en-US" sz="3200" b="1" dirty="0">
                <a:solidFill>
                  <a:srgbClr val="24282A"/>
                </a:solidFill>
                <a:latin typeface="Cambria" pitchFamily="34" charset="0"/>
                <a:ea typeface="Cambria" pitchFamily="34" charset="-122"/>
                <a:cs typeface="Cambria" pitchFamily="34" charset="-120"/>
              </a:rPr>
              <a:t>Success metrics for year one</a:t>
            </a:r>
            <a:endParaRPr lang="en-US" sz="3200" dirty="0"/>
          </a:p>
        </p:txBody>
      </p:sp>
      <p:sp>
        <p:nvSpPr>
          <p:cNvPr id="4" name="Shape 2"/>
          <p:cNvSpPr/>
          <p:nvPr/>
        </p:nvSpPr>
        <p:spPr>
          <a:xfrm>
            <a:off x="548640" y="2103120"/>
            <a:ext cx="2514600" cy="2926080"/>
          </a:xfrm>
          <a:prstGeom prst="roundRect">
            <a:avLst>
              <a:gd name="adj" fmla="val 3636"/>
            </a:avLst>
          </a:prstGeom>
          <a:solidFill>
            <a:srgbClr val="F4F5F5"/>
          </a:solidFill>
          <a:ln w="9525">
            <a:solidFill>
              <a:srgbClr val="B7C0C3"/>
            </a:solidFill>
            <a:prstDash val="solid"/>
          </a:ln>
          <a:effectLst>
            <a:outerShdw blurRad="63500" dist="25400" dir="5400000" algn="bl" rotWithShape="0">
              <a:srgbClr val="7C8689">
                <a:alpha val="20000"/>
              </a:srgbClr>
            </a:outerShdw>
          </a:effectLst>
        </p:spPr>
        <p:txBody>
          <a:bodyPr/>
          <a:lstStyle/>
          <a:p>
            <a:endParaRPr lang="en-US"/>
          </a:p>
        </p:txBody>
      </p:sp>
      <p:sp>
        <p:nvSpPr>
          <p:cNvPr id="5" name="Text 3"/>
          <p:cNvSpPr/>
          <p:nvPr/>
        </p:nvSpPr>
        <p:spPr>
          <a:xfrm>
            <a:off x="548640" y="2377440"/>
            <a:ext cx="2514600" cy="822960"/>
          </a:xfrm>
          <a:prstGeom prst="rect">
            <a:avLst/>
          </a:prstGeom>
          <a:noFill/>
          <a:ln/>
        </p:spPr>
        <p:txBody>
          <a:bodyPr wrap="square" rtlCol="0" anchor="ctr"/>
          <a:lstStyle/>
          <a:p>
            <a:pPr marL="0" indent="0" algn="ctr">
              <a:buNone/>
            </a:pPr>
            <a:r>
              <a:rPr lang="en-US" sz="3800" b="1" dirty="0">
                <a:solidFill>
                  <a:srgbClr val="D9600B"/>
                </a:solidFill>
                <a:latin typeface="Cambria" pitchFamily="34" charset="0"/>
                <a:ea typeface="Cambria" pitchFamily="34" charset="-122"/>
                <a:cs typeface="Cambria" pitchFamily="34" charset="-120"/>
              </a:rPr>
              <a:t>6</a:t>
            </a:r>
            <a:endParaRPr lang="en-US" sz="3800" dirty="0"/>
          </a:p>
        </p:txBody>
      </p:sp>
      <p:sp>
        <p:nvSpPr>
          <p:cNvPr id="6" name="Text 4"/>
          <p:cNvSpPr/>
          <p:nvPr/>
        </p:nvSpPr>
        <p:spPr>
          <a:xfrm>
            <a:off x="685800" y="3246120"/>
            <a:ext cx="2240280" cy="365760"/>
          </a:xfrm>
          <a:prstGeom prst="rect">
            <a:avLst/>
          </a:prstGeom>
          <a:noFill/>
          <a:ln/>
        </p:spPr>
        <p:txBody>
          <a:bodyPr wrap="square" rtlCol="0" anchor="ctr"/>
          <a:lstStyle/>
          <a:p>
            <a:pPr marL="0" indent="0" algn="ctr">
              <a:buNone/>
            </a:pPr>
            <a:r>
              <a:rPr lang="en-US" sz="1400" b="1" dirty="0">
                <a:solidFill>
                  <a:srgbClr val="24282A"/>
                </a:solidFill>
                <a:latin typeface="Cambria" pitchFamily="34" charset="0"/>
                <a:ea typeface="Cambria" pitchFamily="34" charset="-122"/>
                <a:cs typeface="Cambria" pitchFamily="34" charset="-120"/>
              </a:rPr>
              <a:t>Events run</a:t>
            </a:r>
            <a:endParaRPr lang="en-US" sz="1400" dirty="0"/>
          </a:p>
        </p:txBody>
      </p:sp>
      <p:sp>
        <p:nvSpPr>
          <p:cNvPr id="7" name="Text 5"/>
          <p:cNvSpPr/>
          <p:nvPr/>
        </p:nvSpPr>
        <p:spPr>
          <a:xfrm>
            <a:off x="731520" y="3657600"/>
            <a:ext cx="2148840" cy="1280160"/>
          </a:xfrm>
          <a:prstGeom prst="rect">
            <a:avLst/>
          </a:prstGeom>
          <a:noFill/>
          <a:ln/>
        </p:spPr>
        <p:txBody>
          <a:bodyPr wrap="square" rtlCol="0" anchor="ctr"/>
          <a:lstStyle/>
          <a:p>
            <a:pPr marL="0" indent="0" algn="ctr">
              <a:lnSpc>
                <a:spcPts val="1400"/>
              </a:lnSpc>
              <a:buNone/>
            </a:pPr>
            <a:r>
              <a:rPr lang="en-US" sz="1100" dirty="0">
                <a:solidFill>
                  <a:srgbClr val="565D60"/>
                </a:solidFill>
                <a:latin typeface="Calibri" pitchFamily="34" charset="0"/>
                <a:ea typeface="Calibri" pitchFamily="34" charset="-122"/>
                <a:cs typeface="Calibri" pitchFamily="34" charset="-120"/>
              </a:rPr>
              <a:t>One per half, plus lightning-talk nights as demand grows</a:t>
            </a:r>
            <a:endParaRPr lang="en-US" sz="1100" dirty="0"/>
          </a:p>
        </p:txBody>
      </p:sp>
      <p:sp>
        <p:nvSpPr>
          <p:cNvPr id="8" name="Shape 6"/>
          <p:cNvSpPr/>
          <p:nvPr/>
        </p:nvSpPr>
        <p:spPr>
          <a:xfrm>
            <a:off x="3319272" y="2103120"/>
            <a:ext cx="2514600" cy="2926080"/>
          </a:xfrm>
          <a:prstGeom prst="roundRect">
            <a:avLst>
              <a:gd name="adj" fmla="val 3636"/>
            </a:avLst>
          </a:prstGeom>
          <a:solidFill>
            <a:srgbClr val="F4F5F5"/>
          </a:solidFill>
          <a:ln w="9525">
            <a:solidFill>
              <a:srgbClr val="B7C0C3"/>
            </a:solidFill>
            <a:prstDash val="solid"/>
          </a:ln>
          <a:effectLst>
            <a:outerShdw blurRad="63500" dist="25400" dir="5400000" algn="bl" rotWithShape="0">
              <a:srgbClr val="7C8689">
                <a:alpha val="20000"/>
              </a:srgbClr>
            </a:outerShdw>
          </a:effectLst>
        </p:spPr>
        <p:txBody>
          <a:bodyPr/>
          <a:lstStyle/>
          <a:p>
            <a:endParaRPr lang="en-US"/>
          </a:p>
        </p:txBody>
      </p:sp>
      <p:sp>
        <p:nvSpPr>
          <p:cNvPr id="9" name="Text 7"/>
          <p:cNvSpPr/>
          <p:nvPr/>
        </p:nvSpPr>
        <p:spPr>
          <a:xfrm>
            <a:off x="3319272" y="2377440"/>
            <a:ext cx="2514600" cy="822960"/>
          </a:xfrm>
          <a:prstGeom prst="rect">
            <a:avLst/>
          </a:prstGeom>
          <a:noFill/>
          <a:ln/>
        </p:spPr>
        <p:txBody>
          <a:bodyPr wrap="square" rtlCol="0" anchor="ctr"/>
          <a:lstStyle/>
          <a:p>
            <a:pPr marL="0" indent="0" algn="ctr">
              <a:buNone/>
            </a:pPr>
            <a:r>
              <a:rPr lang="en-US" sz="3800" b="1" dirty="0">
                <a:solidFill>
                  <a:srgbClr val="D9600B"/>
                </a:solidFill>
                <a:latin typeface="Cambria" pitchFamily="34" charset="0"/>
                <a:ea typeface="Cambria" pitchFamily="34" charset="-122"/>
                <a:cs typeface="Cambria" pitchFamily="34" charset="-120"/>
              </a:rPr>
              <a:t>300+</a:t>
            </a:r>
            <a:endParaRPr lang="en-US" sz="3800" dirty="0"/>
          </a:p>
        </p:txBody>
      </p:sp>
      <p:sp>
        <p:nvSpPr>
          <p:cNvPr id="10" name="Text 8"/>
          <p:cNvSpPr/>
          <p:nvPr/>
        </p:nvSpPr>
        <p:spPr>
          <a:xfrm>
            <a:off x="3456432" y="3246120"/>
            <a:ext cx="2240280" cy="365760"/>
          </a:xfrm>
          <a:prstGeom prst="rect">
            <a:avLst/>
          </a:prstGeom>
          <a:noFill/>
          <a:ln/>
        </p:spPr>
        <p:txBody>
          <a:bodyPr wrap="square" rtlCol="0" anchor="ctr"/>
          <a:lstStyle/>
          <a:p>
            <a:pPr marL="0" indent="0" algn="ctr">
              <a:buNone/>
            </a:pPr>
            <a:r>
              <a:rPr lang="en-US" sz="1400" b="1" dirty="0">
                <a:solidFill>
                  <a:srgbClr val="24282A"/>
                </a:solidFill>
                <a:latin typeface="Cambria" pitchFamily="34" charset="0"/>
                <a:ea typeface="Cambria" pitchFamily="34" charset="-122"/>
                <a:cs typeface="Cambria" pitchFamily="34" charset="-120"/>
              </a:rPr>
              <a:t>Discord members</a:t>
            </a:r>
            <a:endParaRPr lang="en-US" sz="1400" dirty="0"/>
          </a:p>
        </p:txBody>
      </p:sp>
      <p:sp>
        <p:nvSpPr>
          <p:cNvPr id="11" name="Text 9"/>
          <p:cNvSpPr/>
          <p:nvPr/>
        </p:nvSpPr>
        <p:spPr>
          <a:xfrm>
            <a:off x="3502152" y="3657600"/>
            <a:ext cx="2148840" cy="1280160"/>
          </a:xfrm>
          <a:prstGeom prst="rect">
            <a:avLst/>
          </a:prstGeom>
          <a:noFill/>
          <a:ln/>
        </p:spPr>
        <p:txBody>
          <a:bodyPr wrap="square" rtlCol="0" anchor="ctr"/>
          <a:lstStyle/>
          <a:p>
            <a:pPr marL="0" indent="0" algn="ctr">
              <a:lnSpc>
                <a:spcPts val="1400"/>
              </a:lnSpc>
              <a:buNone/>
            </a:pPr>
            <a:r>
              <a:rPr lang="en-US" sz="1100" dirty="0">
                <a:solidFill>
                  <a:srgbClr val="565D60"/>
                </a:solidFill>
                <a:latin typeface="Calibri" pitchFamily="34" charset="0"/>
                <a:ea typeface="Calibri" pitchFamily="34" charset="-122"/>
                <a:cs typeface="Calibri" pitchFamily="34" charset="-120"/>
              </a:rPr>
              <a:t>Active local practitioners engaging between events</a:t>
            </a:r>
            <a:endParaRPr lang="en-US" sz="1100" dirty="0"/>
          </a:p>
        </p:txBody>
      </p:sp>
      <p:sp>
        <p:nvSpPr>
          <p:cNvPr id="12" name="Shape 10"/>
          <p:cNvSpPr/>
          <p:nvPr/>
        </p:nvSpPr>
        <p:spPr>
          <a:xfrm>
            <a:off x="6089904" y="2103120"/>
            <a:ext cx="2514600" cy="2926080"/>
          </a:xfrm>
          <a:prstGeom prst="roundRect">
            <a:avLst>
              <a:gd name="adj" fmla="val 3636"/>
            </a:avLst>
          </a:prstGeom>
          <a:solidFill>
            <a:srgbClr val="F4F5F5"/>
          </a:solidFill>
          <a:ln w="9525">
            <a:solidFill>
              <a:srgbClr val="B7C0C3"/>
            </a:solidFill>
            <a:prstDash val="solid"/>
          </a:ln>
          <a:effectLst>
            <a:outerShdw blurRad="63500" dist="25400" dir="5400000" algn="bl" rotWithShape="0">
              <a:srgbClr val="7C8689">
                <a:alpha val="20000"/>
              </a:srgbClr>
            </a:outerShdw>
          </a:effectLst>
        </p:spPr>
        <p:txBody>
          <a:bodyPr/>
          <a:lstStyle/>
          <a:p>
            <a:endParaRPr lang="en-US"/>
          </a:p>
        </p:txBody>
      </p:sp>
      <p:sp>
        <p:nvSpPr>
          <p:cNvPr id="13" name="Text 11"/>
          <p:cNvSpPr/>
          <p:nvPr/>
        </p:nvSpPr>
        <p:spPr>
          <a:xfrm>
            <a:off x="6089904" y="2377440"/>
            <a:ext cx="2514600" cy="822960"/>
          </a:xfrm>
          <a:prstGeom prst="rect">
            <a:avLst/>
          </a:prstGeom>
          <a:noFill/>
          <a:ln/>
        </p:spPr>
        <p:txBody>
          <a:bodyPr wrap="square" rtlCol="0" anchor="ctr"/>
          <a:lstStyle/>
          <a:p>
            <a:pPr marL="0" indent="0" algn="ctr">
              <a:buNone/>
            </a:pPr>
            <a:r>
              <a:rPr lang="en-US" sz="3800" b="1" dirty="0">
                <a:solidFill>
                  <a:srgbClr val="D9600B"/>
                </a:solidFill>
                <a:latin typeface="Cambria" pitchFamily="34" charset="0"/>
                <a:ea typeface="Cambria" pitchFamily="34" charset="-122"/>
                <a:cs typeface="Cambria" pitchFamily="34" charset="-120"/>
              </a:rPr>
              <a:t>3+</a:t>
            </a:r>
            <a:endParaRPr lang="en-US" sz="3800" dirty="0"/>
          </a:p>
        </p:txBody>
      </p:sp>
      <p:sp>
        <p:nvSpPr>
          <p:cNvPr id="14" name="Text 12"/>
          <p:cNvSpPr/>
          <p:nvPr/>
        </p:nvSpPr>
        <p:spPr>
          <a:xfrm>
            <a:off x="6227064" y="3246120"/>
            <a:ext cx="2240280" cy="365760"/>
          </a:xfrm>
          <a:prstGeom prst="rect">
            <a:avLst/>
          </a:prstGeom>
          <a:noFill/>
          <a:ln/>
        </p:spPr>
        <p:txBody>
          <a:bodyPr wrap="square" rtlCol="0" anchor="ctr"/>
          <a:lstStyle/>
          <a:p>
            <a:pPr marL="0" indent="0" algn="ctr">
              <a:buNone/>
            </a:pPr>
            <a:r>
              <a:rPr lang="en-US" sz="1400" b="1" dirty="0">
                <a:solidFill>
                  <a:srgbClr val="24282A"/>
                </a:solidFill>
                <a:latin typeface="Cambria" pitchFamily="34" charset="0"/>
                <a:ea typeface="Cambria" pitchFamily="34" charset="-122"/>
                <a:cs typeface="Cambria" pitchFamily="34" charset="-120"/>
              </a:rPr>
              <a:t>Founding sponsors</a:t>
            </a:r>
            <a:endParaRPr lang="en-US" sz="1400" dirty="0"/>
          </a:p>
        </p:txBody>
      </p:sp>
      <p:sp>
        <p:nvSpPr>
          <p:cNvPr id="15" name="Text 13"/>
          <p:cNvSpPr/>
          <p:nvPr/>
        </p:nvSpPr>
        <p:spPr>
          <a:xfrm>
            <a:off x="6272784" y="3657600"/>
            <a:ext cx="2148840" cy="1280160"/>
          </a:xfrm>
          <a:prstGeom prst="rect">
            <a:avLst/>
          </a:prstGeom>
          <a:noFill/>
          <a:ln/>
        </p:spPr>
        <p:txBody>
          <a:bodyPr wrap="square" rtlCol="0" anchor="ctr"/>
          <a:lstStyle/>
          <a:p>
            <a:pPr marL="0" indent="0" algn="ctr">
              <a:lnSpc>
                <a:spcPts val="1400"/>
              </a:lnSpc>
              <a:buNone/>
            </a:pPr>
            <a:r>
              <a:rPr lang="en-US" sz="1100" dirty="0">
                <a:solidFill>
                  <a:srgbClr val="565D60"/>
                </a:solidFill>
                <a:latin typeface="Calibri" pitchFamily="34" charset="0"/>
                <a:ea typeface="Calibri" pitchFamily="34" charset="-122"/>
                <a:cs typeface="Calibri" pitchFamily="34" charset="-120"/>
              </a:rPr>
              <a:t>Covering venue, catering &amp; swag without member fees</a:t>
            </a:r>
            <a:endParaRPr lang="en-US" sz="1100" dirty="0"/>
          </a:p>
        </p:txBody>
      </p:sp>
      <p:sp>
        <p:nvSpPr>
          <p:cNvPr id="16" name="Shape 14"/>
          <p:cNvSpPr/>
          <p:nvPr/>
        </p:nvSpPr>
        <p:spPr>
          <a:xfrm>
            <a:off x="8860536" y="2103120"/>
            <a:ext cx="2514600" cy="2926080"/>
          </a:xfrm>
          <a:prstGeom prst="roundRect">
            <a:avLst>
              <a:gd name="adj" fmla="val 3636"/>
            </a:avLst>
          </a:prstGeom>
          <a:solidFill>
            <a:srgbClr val="F4F5F5"/>
          </a:solidFill>
          <a:ln w="9525">
            <a:solidFill>
              <a:srgbClr val="B7C0C3"/>
            </a:solidFill>
            <a:prstDash val="solid"/>
          </a:ln>
          <a:effectLst>
            <a:outerShdw blurRad="63500" dist="25400" dir="5400000" algn="bl" rotWithShape="0">
              <a:srgbClr val="7C8689">
                <a:alpha val="20000"/>
              </a:srgbClr>
            </a:outerShdw>
          </a:effectLst>
        </p:spPr>
        <p:txBody>
          <a:bodyPr/>
          <a:lstStyle/>
          <a:p>
            <a:endParaRPr lang="en-US"/>
          </a:p>
        </p:txBody>
      </p:sp>
      <p:sp>
        <p:nvSpPr>
          <p:cNvPr id="17" name="Text 15"/>
          <p:cNvSpPr/>
          <p:nvPr/>
        </p:nvSpPr>
        <p:spPr>
          <a:xfrm>
            <a:off x="8860536" y="2377440"/>
            <a:ext cx="2514600" cy="822960"/>
          </a:xfrm>
          <a:prstGeom prst="rect">
            <a:avLst/>
          </a:prstGeom>
          <a:noFill/>
          <a:ln/>
        </p:spPr>
        <p:txBody>
          <a:bodyPr wrap="square" rtlCol="0" anchor="ctr"/>
          <a:lstStyle/>
          <a:p>
            <a:pPr marL="0" indent="0" algn="ctr">
              <a:buNone/>
            </a:pPr>
            <a:r>
              <a:rPr lang="en-US" sz="3800" b="1" dirty="0">
                <a:solidFill>
                  <a:srgbClr val="D9600B"/>
                </a:solidFill>
                <a:latin typeface="Cambria" pitchFamily="34" charset="0"/>
                <a:ea typeface="Cambria" pitchFamily="34" charset="-122"/>
                <a:cs typeface="Cambria" pitchFamily="34" charset="-120"/>
              </a:rPr>
              <a:t>40%</a:t>
            </a:r>
            <a:endParaRPr lang="en-US" sz="3800" dirty="0"/>
          </a:p>
        </p:txBody>
      </p:sp>
      <p:sp>
        <p:nvSpPr>
          <p:cNvPr id="18" name="Text 16"/>
          <p:cNvSpPr/>
          <p:nvPr/>
        </p:nvSpPr>
        <p:spPr>
          <a:xfrm>
            <a:off x="8997696" y="3246120"/>
            <a:ext cx="2240280" cy="365760"/>
          </a:xfrm>
          <a:prstGeom prst="rect">
            <a:avLst/>
          </a:prstGeom>
          <a:noFill/>
          <a:ln/>
        </p:spPr>
        <p:txBody>
          <a:bodyPr wrap="square" rtlCol="0" anchor="ctr"/>
          <a:lstStyle/>
          <a:p>
            <a:pPr marL="0" indent="0" algn="ctr">
              <a:buNone/>
            </a:pPr>
            <a:r>
              <a:rPr lang="en-US" sz="1400" b="1" dirty="0">
                <a:solidFill>
                  <a:srgbClr val="24282A"/>
                </a:solidFill>
                <a:latin typeface="Cambria" pitchFamily="34" charset="0"/>
                <a:ea typeface="Cambria" pitchFamily="34" charset="-122"/>
                <a:cs typeface="Cambria" pitchFamily="34" charset="-120"/>
              </a:rPr>
              <a:t>Repeat attendance</a:t>
            </a:r>
            <a:endParaRPr lang="en-US" sz="1400" dirty="0"/>
          </a:p>
        </p:txBody>
      </p:sp>
      <p:sp>
        <p:nvSpPr>
          <p:cNvPr id="19" name="Text 17"/>
          <p:cNvSpPr/>
          <p:nvPr/>
        </p:nvSpPr>
        <p:spPr>
          <a:xfrm>
            <a:off x="9043416" y="3657600"/>
            <a:ext cx="2148840" cy="1280160"/>
          </a:xfrm>
          <a:prstGeom prst="rect">
            <a:avLst/>
          </a:prstGeom>
          <a:noFill/>
          <a:ln/>
        </p:spPr>
        <p:txBody>
          <a:bodyPr wrap="square" rtlCol="0" anchor="ctr"/>
          <a:lstStyle/>
          <a:p>
            <a:pPr marL="0" indent="0" algn="ctr">
              <a:lnSpc>
                <a:spcPts val="1400"/>
              </a:lnSpc>
              <a:buNone/>
            </a:pPr>
            <a:r>
              <a:rPr lang="en-US" sz="1100" dirty="0">
                <a:solidFill>
                  <a:srgbClr val="565D60"/>
                </a:solidFill>
                <a:latin typeface="Calibri" pitchFamily="34" charset="0"/>
                <a:ea typeface="Calibri" pitchFamily="34" charset="-122"/>
                <a:cs typeface="Calibri" pitchFamily="34" charset="-120"/>
              </a:rPr>
              <a:t>Signal that people are getting real value, not just free drinks</a:t>
            </a:r>
            <a:endParaRPr lang="en-US" sz="1100" dirty="0"/>
          </a:p>
        </p:txBody>
      </p:sp>
      <p:sp>
        <p:nvSpPr>
          <p:cNvPr id="20" name="Text 18"/>
          <p:cNvSpPr/>
          <p:nvPr/>
        </p:nvSpPr>
        <p:spPr>
          <a:xfrm>
            <a:off x="548640" y="5394960"/>
            <a:ext cx="11064240" cy="548640"/>
          </a:xfrm>
          <a:prstGeom prst="rect">
            <a:avLst/>
          </a:prstGeom>
          <a:noFill/>
          <a:ln/>
        </p:spPr>
        <p:txBody>
          <a:bodyPr wrap="square" rtlCol="0" anchor="ctr"/>
          <a:lstStyle/>
          <a:p>
            <a:pPr marL="0" indent="0">
              <a:buNone/>
            </a:pPr>
            <a:r>
              <a:rPr lang="en-US" sz="1250" i="1" dirty="0">
                <a:solidFill>
                  <a:srgbClr val="A84708"/>
                </a:solidFill>
                <a:latin typeface="Calibri" pitchFamily="34" charset="0"/>
                <a:ea typeface="Calibri" pitchFamily="34" charset="-122"/>
                <a:cs typeface="Calibri" pitchFamily="34" charset="-120"/>
              </a:rPr>
              <a:t>Beyond year one: a bid to host or co-host a regional AutoCon-style day, and direct pipeline into NAF's global program.</a:t>
            </a:r>
            <a:endParaRPr lang="en-US" sz="1250" dirty="0"/>
          </a:p>
        </p:txBody>
      </p:sp>
      <p:sp>
        <p:nvSpPr>
          <p:cNvPr id="21" name="Text 19"/>
          <p:cNvSpPr/>
          <p:nvPr/>
        </p:nvSpPr>
        <p:spPr>
          <a:xfrm>
            <a:off x="11368735" y="6400800"/>
            <a:ext cx="548640" cy="274320"/>
          </a:xfrm>
          <a:prstGeom prst="rect">
            <a:avLst/>
          </a:prstGeom>
          <a:noFill/>
          <a:ln/>
        </p:spPr>
        <p:txBody>
          <a:bodyPr wrap="square" rtlCol="0" anchor="ctr"/>
          <a:lstStyle/>
          <a:p>
            <a:pPr marL="0" indent="0" algn="r">
              <a:buNone/>
            </a:pPr>
            <a:r>
              <a:rPr lang="en-US" sz="1000" dirty="0">
                <a:solidFill>
                  <a:srgbClr val="7C8689"/>
                </a:solidFill>
                <a:latin typeface="Calibri" pitchFamily="34" charset="0"/>
                <a:ea typeface="Calibri" pitchFamily="34" charset="-122"/>
                <a:cs typeface="Calibri" pitchFamily="34" charset="-120"/>
              </a:rPr>
              <a:t>10</a:t>
            </a:r>
            <a:endParaRPr lang="en-US" sz="1000" dirty="0"/>
          </a:p>
        </p:txBody>
      </p:sp>
      <p:pic>
        <p:nvPicPr>
          <p:cNvPr id="22" name="Picture 21">
            <a:extLst>
              <a:ext uri="{FF2B5EF4-FFF2-40B4-BE49-F238E27FC236}">
                <a16:creationId xmlns:a16="http://schemas.microsoft.com/office/drawing/2014/main" id="{2188331B-61DC-F903-6685-39FAF35AD99E}"/>
              </a:ext>
            </a:extLst>
          </p:cNvPr>
          <p:cNvPicPr>
            <a:picLocks noChangeAspect="1"/>
          </p:cNvPicPr>
          <p:nvPr/>
        </p:nvPicPr>
        <p:blipFill>
          <a:blip r:embed="rId3">
            <a:alphaModFix amt="20000"/>
          </a:blip>
          <a:stretch>
            <a:fillRect/>
          </a:stretch>
        </p:blipFill>
        <p:spPr>
          <a:xfrm rot="13521678">
            <a:off x="10581708" y="216126"/>
            <a:ext cx="1860102" cy="9290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72E31"/>
        </a:solidFill>
        <a:effectLst/>
      </p:bgPr>
    </p:bg>
    <p:spTree>
      <p:nvGrpSpPr>
        <p:cNvPr id="1" name=""/>
        <p:cNvGrpSpPr/>
        <p:nvPr/>
      </p:nvGrpSpPr>
      <p:grpSpPr>
        <a:xfrm>
          <a:off x="0" y="0"/>
          <a:ext cx="0" cy="0"/>
          <a:chOff x="0" y="0"/>
          <a:chExt cx="0" cy="0"/>
        </a:xfrm>
      </p:grpSpPr>
      <p:sp>
        <p:nvSpPr>
          <p:cNvPr id="24" name="Text 22"/>
          <p:cNvSpPr/>
          <p:nvPr/>
        </p:nvSpPr>
        <p:spPr>
          <a:xfrm>
            <a:off x="822960" y="2148840"/>
            <a:ext cx="9144000" cy="365760"/>
          </a:xfrm>
          <a:prstGeom prst="rect">
            <a:avLst/>
          </a:prstGeom>
          <a:noFill/>
          <a:ln/>
        </p:spPr>
        <p:txBody>
          <a:bodyPr wrap="square" rtlCol="0" anchor="ctr"/>
          <a:lstStyle/>
          <a:p>
            <a:pPr marL="0" indent="0">
              <a:buNone/>
            </a:pPr>
            <a:r>
              <a:rPr lang="en-US" sz="1300" b="1" kern="0" spc="300" dirty="0">
                <a:solidFill>
                  <a:srgbClr val="F0A868"/>
                </a:solidFill>
                <a:latin typeface="Calibri" pitchFamily="34" charset="0"/>
                <a:ea typeface="Calibri" pitchFamily="34" charset="-122"/>
                <a:cs typeface="Calibri" pitchFamily="34" charset="-120"/>
              </a:rPr>
              <a:t>LET'S BUILD IT TOGETHER</a:t>
            </a:r>
            <a:endParaRPr lang="en-US" sz="1300" dirty="0"/>
          </a:p>
        </p:txBody>
      </p:sp>
      <p:sp>
        <p:nvSpPr>
          <p:cNvPr id="25" name="Text 23"/>
          <p:cNvSpPr/>
          <p:nvPr/>
        </p:nvSpPr>
        <p:spPr>
          <a:xfrm>
            <a:off x="777240" y="2514600"/>
            <a:ext cx="9601200" cy="1554480"/>
          </a:xfrm>
          <a:prstGeom prst="rect">
            <a:avLst/>
          </a:prstGeom>
          <a:noFill/>
          <a:ln/>
        </p:spPr>
        <p:txBody>
          <a:bodyPr wrap="square"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Madrid's network automation</a:t>
            </a:r>
            <a:endParaRPr lang="en-US" sz="3800" dirty="0"/>
          </a:p>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community starts with us.</a:t>
            </a:r>
            <a:endParaRPr lang="en-US" sz="3800" dirty="0"/>
          </a:p>
        </p:txBody>
      </p:sp>
      <p:sp>
        <p:nvSpPr>
          <p:cNvPr id="26" name="Shape 24"/>
          <p:cNvSpPr/>
          <p:nvPr/>
        </p:nvSpPr>
        <p:spPr>
          <a:xfrm>
            <a:off x="822960" y="4160520"/>
            <a:ext cx="2011680" cy="0"/>
          </a:xfrm>
          <a:prstGeom prst="line">
            <a:avLst/>
          </a:prstGeom>
          <a:noFill/>
          <a:ln w="31750">
            <a:solidFill>
              <a:srgbClr val="D9600B"/>
            </a:solidFill>
            <a:prstDash val="solid"/>
          </a:ln>
        </p:spPr>
        <p:txBody>
          <a:bodyPr/>
          <a:lstStyle/>
          <a:p>
            <a:endParaRPr lang="en-US"/>
          </a:p>
        </p:txBody>
      </p:sp>
      <p:sp>
        <p:nvSpPr>
          <p:cNvPr id="27" name="Text 25"/>
          <p:cNvSpPr/>
          <p:nvPr/>
        </p:nvSpPr>
        <p:spPr>
          <a:xfrm>
            <a:off x="822960" y="4389120"/>
            <a:ext cx="8229600" cy="548640"/>
          </a:xfrm>
          <a:prstGeom prst="rect">
            <a:avLst/>
          </a:prstGeom>
          <a:noFill/>
          <a:ln/>
        </p:spPr>
        <p:txBody>
          <a:bodyPr wrap="square" rtlCol="0" anchor="ctr"/>
          <a:lstStyle/>
          <a:p>
            <a:pPr marL="0" indent="0">
              <a:buNone/>
            </a:pPr>
            <a:r>
              <a:rPr lang="en-US" sz="1500" dirty="0">
                <a:solidFill>
                  <a:srgbClr val="C7D0D3"/>
                </a:solidFill>
                <a:latin typeface="Calibri" pitchFamily="34" charset="0"/>
                <a:ea typeface="Calibri" pitchFamily="34" charset="-122"/>
                <a:cs typeface="Calibri" pitchFamily="34" charset="-120"/>
              </a:rPr>
              <a:t>Next step: 3–5 co-organizers, a name, and a date for event #1 within 8 weeks.</a:t>
            </a:r>
            <a:endParaRPr lang="en-US" sz="1500" dirty="0"/>
          </a:p>
        </p:txBody>
      </p:sp>
      <p:sp>
        <p:nvSpPr>
          <p:cNvPr id="28" name="Text 26"/>
          <p:cNvSpPr/>
          <p:nvPr/>
        </p:nvSpPr>
        <p:spPr>
          <a:xfrm>
            <a:off x="822960" y="6035040"/>
            <a:ext cx="9144000" cy="365760"/>
          </a:xfrm>
          <a:prstGeom prst="rect">
            <a:avLst/>
          </a:prstGeom>
          <a:noFill/>
          <a:ln/>
        </p:spPr>
        <p:txBody>
          <a:bodyPr wrap="square" rtlCol="0" anchor="ctr"/>
          <a:lstStyle/>
          <a:p>
            <a:pPr marL="0" indent="0">
              <a:buNone/>
            </a:pPr>
            <a:r>
              <a:rPr lang="en-US" sz="1200" dirty="0">
                <a:solidFill>
                  <a:srgbClr val="B7C0C3"/>
                </a:solidFill>
                <a:latin typeface="Calibri" pitchFamily="34" charset="0"/>
                <a:ea typeface="Calibri" pitchFamily="34" charset="-122"/>
                <a:cs typeface="Calibri" pitchFamily="34" charset="-120"/>
              </a:rPr>
              <a:t>we@netmad.es   ·   linkedin.com/company/netmad   ·   netmad.slack.com</a:t>
            </a:r>
            <a:endParaRPr lang="en-US" sz="1200" dirty="0"/>
          </a:p>
        </p:txBody>
      </p:sp>
      <p:pic>
        <p:nvPicPr>
          <p:cNvPr id="31" name="Picture 30">
            <a:extLst>
              <a:ext uri="{FF2B5EF4-FFF2-40B4-BE49-F238E27FC236}">
                <a16:creationId xmlns:a16="http://schemas.microsoft.com/office/drawing/2014/main" id="{CBE1C20E-4961-A752-08A8-2A5B0288B97E}"/>
              </a:ext>
            </a:extLst>
          </p:cNvPr>
          <p:cNvPicPr>
            <a:picLocks noChangeAspect="1"/>
          </p:cNvPicPr>
          <p:nvPr/>
        </p:nvPicPr>
        <p:blipFill>
          <a:blip r:embed="rId3">
            <a:alphaModFix amt="20000"/>
          </a:blip>
          <a:stretch>
            <a:fillRect/>
          </a:stretch>
        </p:blipFill>
        <p:spPr>
          <a:xfrm rot="19183380">
            <a:off x="6266919" y="3156671"/>
            <a:ext cx="7717082" cy="385419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1424</TotalTime>
  <Words>3140</Words>
  <Application>Microsoft Macintosh PowerPoint</Application>
  <PresentationFormat>Widescreen</PresentationFormat>
  <Paragraphs>200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Izquierdo, Jose Miguel</cp:lastModifiedBy>
  <cp:revision>5</cp:revision>
  <dcterms:created xsi:type="dcterms:W3CDTF">2026-09-08T10:06:19Z</dcterms:created>
  <dcterms:modified xsi:type="dcterms:W3CDTF">2026-09-11T12:11:38Z</dcterms:modified>
</cp:coreProperties>
</file>